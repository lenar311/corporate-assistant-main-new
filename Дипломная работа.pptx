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833" r:id="rId1"/>
  </p:sldMasterIdLst>
  <p:notesMasterIdLst>
    <p:notesMasterId r:id="rId16"/>
  </p:notesMasterIdLst>
  <p:sldIdLst>
    <p:sldId id="268" r:id="rId2"/>
    <p:sldId id="257" r:id="rId3"/>
    <p:sldId id="258" r:id="rId4"/>
    <p:sldId id="259" r:id="rId5"/>
    <p:sldId id="260" r:id="rId6"/>
    <p:sldId id="261" r:id="rId7"/>
    <p:sldId id="262" r:id="rId8"/>
    <p:sldId id="267" r:id="rId9"/>
    <p:sldId id="272" r:id="rId10"/>
    <p:sldId id="273" r:id="rId11"/>
    <p:sldId id="263" r:id="rId12"/>
    <p:sldId id="264" r:id="rId13"/>
    <p:sldId id="274" r:id="rId14"/>
    <p:sldId id="265" r:id="rId15"/>
  </p:sldIdLst>
  <p:sldSz cx="12192000" cy="6858000"/>
  <p:notesSz cx="6858000" cy="9144000"/>
  <p:defaultTextStyle>
    <a:defPPr>
      <a:defRPr lang="ru-RU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Средний стиль 2 — акцент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Средний стиль 2 — акцент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F5AB1C69-6EDB-4FF4-983F-18BD219EF322}" styleName="Средний стиль 2 — акцент 3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3">
              <a:tint val="20000"/>
            </a:schemeClr>
          </a:solidFill>
        </a:fill>
      </a:tcStyle>
    </a:wholeTbl>
    <a:band1H>
      <a:tcStyle>
        <a:tcBdr/>
        <a:fill>
          <a:solidFill>
            <a:schemeClr val="accent3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3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3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3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3"/>
          </a:solidFill>
        </a:fill>
      </a:tcStyle>
    </a:firstRow>
  </a:tblStyle>
  <a:tblStyle styleId="{00A15C55-8517-42AA-B614-E9B94910E393}" styleName="Средний стиль 2 — акцент 4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4">
              <a:tint val="20000"/>
            </a:schemeClr>
          </a:solidFill>
        </a:fill>
      </a:tcStyle>
    </a:wholeTbl>
    <a:band1H>
      <a:tcStyle>
        <a:tcBdr/>
        <a:fill>
          <a:solidFill>
            <a:schemeClr val="accent4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4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4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4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82" d="100"/>
          <a:sy n="82" d="100"/>
        </p:scale>
        <p:origin x="384" y="36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notesMaster" Target="notesMasters/notesMaster1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хний колонтитул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3" name="Дата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CC010F-CE16-4952-BAFA-FB15BF6A3E9E}" type="datetimeFigureOut">
              <a:rPr lang="ru-RU" smtClean="0"/>
              <a:t>24.04.2026</a:t>
            </a:fld>
            <a:endParaRPr lang="ru-RU"/>
          </a:p>
        </p:txBody>
      </p:sp>
      <p:sp>
        <p:nvSpPr>
          <p:cNvPr id="4" name="Образ слайда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ru-RU"/>
          </a:p>
        </p:txBody>
      </p:sp>
      <p:sp>
        <p:nvSpPr>
          <p:cNvPr id="5" name="Заметки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6" name="Нижний колонтитул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ru-RU"/>
          </a:p>
        </p:txBody>
      </p:sp>
      <p:sp>
        <p:nvSpPr>
          <p:cNvPr id="7" name="Номер слайда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01A63985-7026-4782-8A86-48E015575855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9944796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Образ слайда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Заметки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ru-RU" dirty="0"/>
          </a:p>
        </p:txBody>
      </p:sp>
      <p:sp>
        <p:nvSpPr>
          <p:cNvPr id="4" name="Номер слайда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01A63985-7026-4782-8A86-48E015575855}" type="slidenum">
              <a:rPr lang="ru-RU" smtClean="0"/>
              <a:t>13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60625807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208DF87E-7C5A-6508-6952-6E059F13F2A0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6E31122E-F6C5-517B-7716-150BD9851BE9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ru-RU"/>
              <a:t>Образец подзаголовка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2C35B98-454E-4D6A-A28C-5DCB2A180E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B6A4ABBA-211B-0BD4-38EF-883A3AC7508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E3D58C96-3275-CCA0-893D-005307B74A8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663683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1FD7967-1ADB-90A2-5CF2-2F4213415C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7A1DC0BE-0A07-21FD-6FB7-782E60E1D2C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D0B05DD9-2B2D-9BF8-8693-4E9D7AA4505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64BDBBB2-C8CF-650A-C604-251ED5AD30E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2CE19D47-771A-B632-3A68-AD91B21A2A7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079263445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EAC66B1-A9D0-303E-8B5A-C1BDCEF2F46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EE3D9548-6043-D9BE-2860-21BE6E4DD0D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ECAFE036-0229-122A-3849-7AC56E1CB45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F24B6E8-8E21-97C4-4DAF-FAE52D39B0D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C96DC98-48DE-906A-4229-B6AF3EF80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0635709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6320FCB-AC15-71D9-EA18-776CEA195CC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24365C5-780E-9B7F-373D-839129FBB723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E849C6B4-A3D8-64F2-5B14-F35B7AC9E8A5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7BA3C5BC-EEBA-1E83-22DC-CC6D2235BB4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4A61C497-30D7-5B0F-DF97-A61C68FDD0C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73E758B-600B-AC76-D614-6364C96D931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391854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E85A85F3-4EFF-7A11-0E53-AD11BFC92B1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85956A0-72B0-5E25-78D6-C6089EC91A0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Объект 3">
            <a:extLst>
              <a:ext uri="{FF2B5EF4-FFF2-40B4-BE49-F238E27FC236}">
                <a16:creationId xmlns:a16="http://schemas.microsoft.com/office/drawing/2014/main" id="{131840D3-8EC5-978E-9227-55CFA0A0E43B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5" name="Текст 4">
            <a:extLst>
              <a:ext uri="{FF2B5EF4-FFF2-40B4-BE49-F238E27FC236}">
                <a16:creationId xmlns:a16="http://schemas.microsoft.com/office/drawing/2014/main" id="{87ABB0FD-F9FB-7DE1-EF53-EBF212BA70D2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Объект 5">
            <a:extLst>
              <a:ext uri="{FF2B5EF4-FFF2-40B4-BE49-F238E27FC236}">
                <a16:creationId xmlns:a16="http://schemas.microsoft.com/office/drawing/2014/main" id="{98AA78D0-6556-D649-413F-7BC765BF6B54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7" name="Дата 6">
            <a:extLst>
              <a:ext uri="{FF2B5EF4-FFF2-40B4-BE49-F238E27FC236}">
                <a16:creationId xmlns:a16="http://schemas.microsoft.com/office/drawing/2014/main" id="{50812556-9648-3870-15ED-050D8E222C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8" name="Нижний колонтитул 7">
            <a:extLst>
              <a:ext uri="{FF2B5EF4-FFF2-40B4-BE49-F238E27FC236}">
                <a16:creationId xmlns:a16="http://schemas.microsoft.com/office/drawing/2014/main" id="{4CA3680D-A7A3-BFBF-4CF4-134D078F32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Номер слайда 8">
            <a:extLst>
              <a:ext uri="{FF2B5EF4-FFF2-40B4-BE49-F238E27FC236}">
                <a16:creationId xmlns:a16="http://schemas.microsoft.com/office/drawing/2014/main" id="{FADAF26B-E296-1E1E-BE66-FB659BE6BC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6500044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270D76-363B-A5A9-2CA1-410A801EFCD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Дата 2">
            <a:extLst>
              <a:ext uri="{FF2B5EF4-FFF2-40B4-BE49-F238E27FC236}">
                <a16:creationId xmlns:a16="http://schemas.microsoft.com/office/drawing/2014/main" id="{55F2CD05-0934-19CA-1675-B517B71A72C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4" name="Нижний колонтитул 3">
            <a:extLst>
              <a:ext uri="{FF2B5EF4-FFF2-40B4-BE49-F238E27FC236}">
                <a16:creationId xmlns:a16="http://schemas.microsoft.com/office/drawing/2014/main" id="{DFB21AD0-B2FF-A86C-354C-87B60B2AE41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Номер слайда 4">
            <a:extLst>
              <a:ext uri="{FF2B5EF4-FFF2-40B4-BE49-F238E27FC236}">
                <a16:creationId xmlns:a16="http://schemas.microsoft.com/office/drawing/2014/main" id="{2707A9BB-11C8-6F4D-842F-6461F77C6AB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105001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Дата 1">
            <a:extLst>
              <a:ext uri="{FF2B5EF4-FFF2-40B4-BE49-F238E27FC236}">
                <a16:creationId xmlns:a16="http://schemas.microsoft.com/office/drawing/2014/main" id="{D187822F-C2D6-F6FB-51E4-497B7E3A4B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3" name="Нижний колонтитул 2">
            <a:extLst>
              <a:ext uri="{FF2B5EF4-FFF2-40B4-BE49-F238E27FC236}">
                <a16:creationId xmlns:a16="http://schemas.microsoft.com/office/drawing/2014/main" id="{3D09C227-93DA-A2E6-8529-6C3D353C338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Номер слайда 3">
            <a:extLst>
              <a:ext uri="{FF2B5EF4-FFF2-40B4-BE49-F238E27FC236}">
                <a16:creationId xmlns:a16="http://schemas.microsoft.com/office/drawing/2014/main" id="{FE33E736-9E6D-A4B6-D66C-AE5D5E2CE90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4358891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9EDE3551-0514-7A9A-0D02-5EF3347BD32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98295731-AEF2-6FF9-77E6-2EE46473131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B81DDEFB-B413-A92F-81F9-2EFDB45ADC99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46DBD5DE-B416-F694-96B0-423585BC5F3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7B3DFD37-1D29-9829-4B20-852A104CC00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26204F61-C8E8-AA3C-AF54-D7A4AAB66E1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40427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C4E3CC4-078F-2582-6161-34E337F1611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ru-RU"/>
              <a:t>Образец заголовка</a:t>
            </a:r>
          </a:p>
        </p:txBody>
      </p:sp>
      <p:sp>
        <p:nvSpPr>
          <p:cNvPr id="3" name="Рисунок 2">
            <a:extLst>
              <a:ext uri="{FF2B5EF4-FFF2-40B4-BE49-F238E27FC236}">
                <a16:creationId xmlns:a16="http://schemas.microsoft.com/office/drawing/2014/main" id="{110C2098-B65E-ADE6-96A7-BA8AF6FB8564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ru-RU"/>
          </a:p>
        </p:txBody>
      </p:sp>
      <p:sp>
        <p:nvSpPr>
          <p:cNvPr id="4" name="Текст 3">
            <a:extLst>
              <a:ext uri="{FF2B5EF4-FFF2-40B4-BE49-F238E27FC236}">
                <a16:creationId xmlns:a16="http://schemas.microsoft.com/office/drawing/2014/main" id="{FEE35EF3-316F-6425-356A-7A291E1030A0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Дата 4">
            <a:extLst>
              <a:ext uri="{FF2B5EF4-FFF2-40B4-BE49-F238E27FC236}">
                <a16:creationId xmlns:a16="http://schemas.microsoft.com/office/drawing/2014/main" id="{545831C2-2A87-064E-E54B-06C7B9BE043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6" name="Нижний колонтитул 5">
            <a:extLst>
              <a:ext uri="{FF2B5EF4-FFF2-40B4-BE49-F238E27FC236}">
                <a16:creationId xmlns:a16="http://schemas.microsoft.com/office/drawing/2014/main" id="{0B4AE1F4-B0E6-B856-5AD6-CD607CCD558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Номер слайда 6">
            <a:extLst>
              <a:ext uri="{FF2B5EF4-FFF2-40B4-BE49-F238E27FC236}">
                <a16:creationId xmlns:a16="http://schemas.microsoft.com/office/drawing/2014/main" id="{4C747E69-2888-4E50-7690-465BD254120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502746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73DE351E-A7D8-C1C7-EB99-291947562C0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118F12B7-83FD-0BB6-EB54-476709A9F7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084846AC-A331-A1D1-1B5A-4E277D234F8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959726A8-A4A4-4643-CD93-73412B8C78B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795574C0-9E9D-B9EB-B8BE-ED26820137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62005702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Вертикальный заголовок 1">
            <a:extLst>
              <a:ext uri="{FF2B5EF4-FFF2-40B4-BE49-F238E27FC236}">
                <a16:creationId xmlns:a16="http://schemas.microsoft.com/office/drawing/2014/main" id="{B4DA181E-B51B-8579-ECDF-928020ECB83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Вертикальный текст 2">
            <a:extLst>
              <a:ext uri="{FF2B5EF4-FFF2-40B4-BE49-F238E27FC236}">
                <a16:creationId xmlns:a16="http://schemas.microsoft.com/office/drawing/2014/main" id="{001D0897-0452-B080-E1ED-A00A4D1BCBE8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15E95B55-49DC-B988-8E1C-8B21CB411BB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220F21E8-C1BF-AD76-385A-1A66C0F3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8CF65CE1-8B7A-36D2-B679-626C53119A2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607251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F933D4C0-8948-8F71-140D-F857E0D9164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ru-RU"/>
              <a:t>Образец заголовка</a:t>
            </a:r>
          </a:p>
        </p:txBody>
      </p:sp>
      <p:sp>
        <p:nvSpPr>
          <p:cNvPr id="3" name="Текст 2">
            <a:extLst>
              <a:ext uri="{FF2B5EF4-FFF2-40B4-BE49-F238E27FC236}">
                <a16:creationId xmlns:a16="http://schemas.microsoft.com/office/drawing/2014/main" id="{9FB5FDFD-0174-E84B-F4B7-B530E70E35C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</a:p>
        </p:txBody>
      </p:sp>
      <p:sp>
        <p:nvSpPr>
          <p:cNvPr id="4" name="Дата 3">
            <a:extLst>
              <a:ext uri="{FF2B5EF4-FFF2-40B4-BE49-F238E27FC236}">
                <a16:creationId xmlns:a16="http://schemas.microsoft.com/office/drawing/2014/main" id="{FCF8890C-E826-E174-E96C-C763270ACFDD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4/24/2026</a:t>
            </a:fld>
            <a:endParaRPr lang="en-US"/>
          </a:p>
        </p:txBody>
      </p:sp>
      <p:sp>
        <p:nvSpPr>
          <p:cNvPr id="5" name="Нижний колонтитул 4">
            <a:extLst>
              <a:ext uri="{FF2B5EF4-FFF2-40B4-BE49-F238E27FC236}">
                <a16:creationId xmlns:a16="http://schemas.microsoft.com/office/drawing/2014/main" id="{FC2FB381-8889-E08F-28A0-4DF9F008412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Номер слайда 5">
            <a:extLst>
              <a:ext uri="{FF2B5EF4-FFF2-40B4-BE49-F238E27FC236}">
                <a16:creationId xmlns:a16="http://schemas.microsoft.com/office/drawing/2014/main" id="{30F1C278-85A9-1974-2679-D43E2F9ECAEF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90102117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834" r:id="rId1"/>
    <p:sldLayoutId id="2147483835" r:id="rId2"/>
    <p:sldLayoutId id="2147483836" r:id="rId3"/>
    <p:sldLayoutId id="2147483837" r:id="rId4"/>
    <p:sldLayoutId id="2147483838" r:id="rId5"/>
    <p:sldLayoutId id="2147483839" r:id="rId6"/>
    <p:sldLayoutId id="2147483840" r:id="rId7"/>
    <p:sldLayoutId id="2147483841" r:id="rId8"/>
    <p:sldLayoutId id="2147483842" r:id="rId9"/>
    <p:sldLayoutId id="2147483843" r:id="rId10"/>
    <p:sldLayoutId id="2147483844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ru-RU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7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7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Прямоугольник 3">
            <a:extLst>
              <a:ext uri="{FF2B5EF4-FFF2-40B4-BE49-F238E27FC236}">
                <a16:creationId xmlns:a16="http://schemas.microsoft.com/office/drawing/2014/main" id="{31A80381-6279-4B81-3FAA-D987C57C6362}"/>
              </a:ext>
            </a:extLst>
          </p:cNvPr>
          <p:cNvSpPr/>
          <p:nvPr/>
        </p:nvSpPr>
        <p:spPr>
          <a:xfrm>
            <a:off x="0" y="0"/>
            <a:ext cx="1084729" cy="6858000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ru-RU"/>
          </a:p>
        </p:txBody>
      </p:sp>
      <p:sp>
        <p:nvSpPr>
          <p:cNvPr id="12" name="TextBox 11">
            <a:extLst>
              <a:ext uri="{FF2B5EF4-FFF2-40B4-BE49-F238E27FC236}">
                <a16:creationId xmlns:a16="http://schemas.microsoft.com/office/drawing/2014/main" id="{D62F3765-CB0C-7D4F-5DDE-2DBE8D074C01}"/>
              </a:ext>
            </a:extLst>
          </p:cNvPr>
          <p:cNvSpPr txBox="1"/>
          <p:nvPr/>
        </p:nvSpPr>
        <p:spPr>
          <a:xfrm>
            <a:off x="2841807" y="232646"/>
            <a:ext cx="8050305" cy="646331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lang="ru-RU" sz="3200" dirty="0">
                <a:latin typeface="Century Schoolbook" panose="02040604050505020304" pitchFamily="18" charset="0"/>
              </a:rPr>
              <a:t>Компьютерная</a:t>
            </a:r>
            <a:r>
              <a:rPr lang="ru-RU" sz="3600" dirty="0">
                <a:latin typeface="Century Schoolbook" panose="02040604050505020304" pitchFamily="18" charset="0"/>
              </a:rPr>
              <a:t> Академия Топ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1AEFC39D-85B2-DE83-FFE0-83D5CD819751}"/>
              </a:ext>
            </a:extLst>
          </p:cNvPr>
          <p:cNvSpPr txBox="1"/>
          <p:nvPr/>
        </p:nvSpPr>
        <p:spPr>
          <a:xfrm>
            <a:off x="3798784" y="971310"/>
            <a:ext cx="6136341" cy="58477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dirty="0">
                <a:latin typeface="Century Schoolbook" panose="02040604050505020304" pitchFamily="18" charset="0"/>
              </a:rPr>
              <a:t>Дипломная работа</a:t>
            </a:r>
          </a:p>
        </p:txBody>
      </p:sp>
      <p:sp>
        <p:nvSpPr>
          <p:cNvPr id="14" name="TextBox 13">
            <a:extLst>
              <a:ext uri="{FF2B5EF4-FFF2-40B4-BE49-F238E27FC236}">
                <a16:creationId xmlns:a16="http://schemas.microsoft.com/office/drawing/2014/main" id="{571AD0AD-30C9-B8E9-09CA-D22F84932F9C}"/>
              </a:ext>
            </a:extLst>
          </p:cNvPr>
          <p:cNvSpPr txBox="1"/>
          <p:nvPr/>
        </p:nvSpPr>
        <p:spPr>
          <a:xfrm>
            <a:off x="2153759" y="2397948"/>
            <a:ext cx="9820804" cy="156966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ru-RU" sz="3200" b="1" dirty="0">
                <a:latin typeface="Century Schoolbook" panose="02040604050505020304" pitchFamily="18" charset="0"/>
              </a:rPr>
              <a:t>Настольная информационная система корпоративного ассистирования с локальной обработкой естественного языка</a:t>
            </a:r>
            <a:endParaRPr lang="ru-RU" sz="4800" b="1" dirty="0">
              <a:latin typeface="Century Schoolbook" panose="02040604050505020304" pitchFamily="18" charset="0"/>
            </a:endParaRPr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B7939D7A-0EF9-0DC3-AB3E-B097756A7CC2}"/>
              </a:ext>
            </a:extLst>
          </p:cNvPr>
          <p:cNvSpPr txBox="1"/>
          <p:nvPr/>
        </p:nvSpPr>
        <p:spPr>
          <a:xfrm>
            <a:off x="3249907" y="4584985"/>
            <a:ext cx="8546050" cy="98488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 defTabSz="1344166">
              <a:spcBef>
                <a:spcPts val="1200"/>
              </a:spcBef>
              <a:tabLst>
                <a:tab pos="4724400" algn="l"/>
              </a:tabLst>
              <a:defRPr sz="2300"/>
            </a:pP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Автор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:</a:t>
            </a: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  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Файзрахманов Ленар </a:t>
            </a:r>
            <a:r>
              <a:rPr lang="ru-RU" sz="2400" dirty="0" err="1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Фирдавесович</a:t>
            </a:r>
            <a:endParaRPr lang="ru-RU" sz="2400" dirty="0">
              <a:latin typeface="Century Schoolbook" panose="02040604050505020304" pitchFamily="18" charset="0"/>
              <a:cs typeface="Calibri" panose="020F0502020204030204" pitchFamily="34" charset="0"/>
            </a:endParaRPr>
          </a:p>
          <a:p>
            <a:pPr defTabSz="1344166">
              <a:spcBef>
                <a:spcPts val="1200"/>
              </a:spcBef>
              <a:tabLst>
                <a:tab pos="4724400" algn="l"/>
              </a:tabLst>
              <a:defRPr sz="2300"/>
            </a:pPr>
            <a:r>
              <a:rPr lang="ru-RU" sz="2400" b="1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Руководитель по дипломной работе</a:t>
            </a:r>
            <a:r>
              <a:rPr lang="ru-RU" sz="2400" dirty="0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: </a:t>
            </a:r>
            <a:r>
              <a:rPr lang="ru-RU" sz="2400" dirty="0" err="1">
                <a:solidFill>
                  <a:schemeClr val="tx1"/>
                </a:solidFill>
                <a:latin typeface="Century Schoolbook" panose="02040604050505020304" pitchFamily="18" charset="0"/>
                <a:cs typeface="Calibri" panose="020F0502020204030204" pitchFamily="34" charset="0"/>
              </a:rPr>
              <a:t>Деркунов</a:t>
            </a:r>
            <a:r>
              <a:rPr lang="ru-RU" sz="2400" dirty="0">
                <a:latin typeface="Century Schoolbook" panose="02040604050505020304" pitchFamily="18" charset="0"/>
              </a:rPr>
              <a:t> М.Ю.</a:t>
            </a:r>
            <a:endParaRPr lang="ru-RU" sz="2400" dirty="0">
              <a:solidFill>
                <a:schemeClr val="tx1"/>
              </a:solidFill>
              <a:latin typeface="Century Schoolbook" panose="02040604050505020304" pitchFamily="18" charset="0"/>
              <a:cs typeface="Calibri" panose="020F0502020204030204" pitchFamily="34" charset="0"/>
            </a:endParaRPr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8374183C-9A3E-626A-F3E9-F87C1B255621}"/>
              </a:ext>
            </a:extLst>
          </p:cNvPr>
          <p:cNvSpPr txBox="1"/>
          <p:nvPr/>
        </p:nvSpPr>
        <p:spPr>
          <a:xfrm>
            <a:off x="5436487" y="6256022"/>
            <a:ext cx="2577618" cy="46166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400" dirty="0">
                <a:latin typeface="Century Schoolbook" panose="02040604050505020304" pitchFamily="18" charset="0"/>
                <a:cs typeface="Calibri" panose="020F0502020204030204" pitchFamily="34" charset="0"/>
              </a:rPr>
              <a:t>Казань, 2026 г.</a:t>
            </a:r>
          </a:p>
        </p:txBody>
      </p:sp>
      <p:pic>
        <p:nvPicPr>
          <p:cNvPr id="3" name="Рисунок 2">
            <a:extLst>
              <a:ext uri="{FF2B5EF4-FFF2-40B4-BE49-F238E27FC236}">
                <a16:creationId xmlns:a16="http://schemas.microsoft.com/office/drawing/2014/main" id="{64DF875C-A1FA-3D4E-940C-DF49EFD8DD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-211756" y="-200011"/>
            <a:ext cx="1511644" cy="151164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7057041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Актуальность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264498"/>
            <a:ext cx="10881360" cy="6186309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В </a:t>
            </a:r>
            <a:r>
              <a:rPr dirty="0" err="1"/>
              <a:t>условиях</a:t>
            </a:r>
            <a:r>
              <a:rPr dirty="0"/>
              <a:t> </a:t>
            </a:r>
            <a:r>
              <a:rPr dirty="0" err="1"/>
              <a:t>цифровой</a:t>
            </a:r>
            <a:r>
              <a:rPr dirty="0"/>
              <a:t> </a:t>
            </a:r>
            <a:r>
              <a:rPr dirty="0" err="1"/>
              <a:t>трансформации</a:t>
            </a:r>
            <a:r>
              <a:rPr dirty="0"/>
              <a:t> </a:t>
            </a:r>
            <a:r>
              <a:rPr dirty="0" err="1"/>
              <a:t>промышленности</a:t>
            </a:r>
            <a:r>
              <a:rPr dirty="0"/>
              <a:t>, </a:t>
            </a:r>
            <a:r>
              <a:rPr dirty="0" err="1"/>
              <a:t>инженеры</a:t>
            </a:r>
            <a:r>
              <a:rPr dirty="0"/>
              <a:t> и </a:t>
            </a:r>
            <a:r>
              <a:rPr dirty="0" err="1"/>
              <a:t>конструкторы</a:t>
            </a:r>
            <a:r>
              <a:rPr dirty="0"/>
              <a:t> </a:t>
            </a:r>
            <a:r>
              <a:rPr dirty="0" err="1"/>
              <a:t>ежедневно</a:t>
            </a:r>
            <a:r>
              <a:rPr dirty="0"/>
              <a:t> </a:t>
            </a:r>
            <a:r>
              <a:rPr dirty="0" err="1"/>
              <a:t>работают</a:t>
            </a:r>
            <a:r>
              <a:rPr dirty="0"/>
              <a:t> с </a:t>
            </a:r>
            <a:r>
              <a:rPr dirty="0" err="1"/>
              <a:t>сотнями</a:t>
            </a:r>
            <a:r>
              <a:rPr dirty="0"/>
              <a:t> </a:t>
            </a:r>
            <a:r>
              <a:rPr dirty="0" err="1"/>
              <a:t>нормативных</a:t>
            </a:r>
            <a:r>
              <a:rPr dirty="0"/>
              <a:t> </a:t>
            </a:r>
            <a:r>
              <a:rPr dirty="0" err="1"/>
              <a:t>документов</a:t>
            </a:r>
            <a:r>
              <a:rPr dirty="0"/>
              <a:t> (ГОСТ, ОСТ, ЕСКД).</a:t>
            </a:r>
          </a:p>
          <a:p>
            <a:pPr algn="just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Проблемы</a:t>
            </a:r>
            <a:r>
              <a:rPr dirty="0"/>
              <a:t>: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Огромные</a:t>
            </a:r>
            <a:r>
              <a:rPr dirty="0"/>
              <a:t> </a:t>
            </a:r>
            <a:r>
              <a:rPr dirty="0" err="1"/>
              <a:t>объемы</a:t>
            </a:r>
            <a:r>
              <a:rPr dirty="0"/>
              <a:t> </a:t>
            </a:r>
            <a:r>
              <a:rPr dirty="0" err="1"/>
              <a:t>документации</a:t>
            </a:r>
            <a:r>
              <a:rPr dirty="0"/>
              <a:t> (</a:t>
            </a:r>
            <a:r>
              <a:rPr dirty="0" err="1"/>
              <a:t>тысячи</a:t>
            </a:r>
            <a:r>
              <a:rPr dirty="0"/>
              <a:t> </a:t>
            </a:r>
            <a:r>
              <a:rPr dirty="0" err="1"/>
              <a:t>страниц</a:t>
            </a:r>
            <a:r>
              <a:rPr dirty="0"/>
              <a:t>)</a:t>
            </a:r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Долгий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нужной</a:t>
            </a:r>
            <a:r>
              <a:rPr dirty="0"/>
              <a:t> </a:t>
            </a:r>
            <a:r>
              <a:rPr dirty="0" err="1"/>
              <a:t>информации</a:t>
            </a:r>
            <a:endParaRPr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Человеческий</a:t>
            </a:r>
            <a:r>
              <a:rPr dirty="0"/>
              <a:t> </a:t>
            </a:r>
            <a:r>
              <a:rPr dirty="0" err="1"/>
              <a:t>фактор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нормоконтроле</a:t>
            </a:r>
            <a:endParaRPr dirty="0"/>
          </a:p>
          <a:p>
            <a:pPr marL="342900" indent="-342900" algn="just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Требования</a:t>
            </a:r>
            <a:r>
              <a:rPr dirty="0"/>
              <a:t> к </a:t>
            </a:r>
            <a:r>
              <a:rPr dirty="0" err="1"/>
              <a:t>конфиденциальности</a:t>
            </a:r>
            <a:r>
              <a:rPr dirty="0"/>
              <a:t> </a:t>
            </a:r>
            <a:r>
              <a:rPr dirty="0" err="1"/>
              <a:t>данных</a:t>
            </a:r>
            <a:endParaRPr lang="ru-RU"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lang="ru-RU" dirty="0"/>
              <a:t>Решение: Локальная RAG-система с семантическим поиском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Цель и задачи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45487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just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b="1" dirty="0" err="1">
                <a:latin typeface="Century Schoolbook (Основной текст)"/>
              </a:rPr>
              <a:t>Цель</a:t>
            </a:r>
            <a:r>
              <a:rPr b="1" dirty="0">
                <a:latin typeface="Century Schoolbook (Основной текст)"/>
              </a:rPr>
              <a:t>:</a:t>
            </a:r>
            <a:r>
              <a:rPr lang="ru-RU" b="1"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Создание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корпоративного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ассистента</a:t>
            </a:r>
            <a:r>
              <a:rPr dirty="0">
                <a:latin typeface="Century Schoolbook (Основной текст)"/>
              </a:rPr>
              <a:t> с </a:t>
            </a:r>
            <a:r>
              <a:rPr dirty="0" err="1">
                <a:latin typeface="Century Schoolbook (Основной текст)"/>
              </a:rPr>
              <a:t>локальной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обработкой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естественного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языка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для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быстрого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поиска</a:t>
            </a:r>
            <a:r>
              <a:rPr dirty="0">
                <a:latin typeface="Century Schoolbook (Основной текст)"/>
              </a:rPr>
              <a:t> и </a:t>
            </a:r>
            <a:r>
              <a:rPr dirty="0" err="1">
                <a:latin typeface="Century Schoolbook (Основной текст)"/>
              </a:rPr>
              <a:t>анализа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нормативной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документации</a:t>
            </a:r>
            <a:endParaRPr dirty="0">
              <a:latin typeface="Century Schoolbook (Основной текст)"/>
            </a:endParaRPr>
          </a:p>
          <a:p>
            <a:pPr algn="l">
              <a:lnSpc>
                <a:spcPct val="150000"/>
              </a:lnSpc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b="1" dirty="0" err="1">
                <a:latin typeface="Century Schoolbook (Основной текст)"/>
              </a:rPr>
              <a:t>Задачи</a:t>
            </a:r>
            <a:r>
              <a:rPr b="1" dirty="0">
                <a:latin typeface="Century Schoolbook (Основной текст)"/>
              </a:rPr>
              <a:t>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Реализовать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семантический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поиск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</a:t>
            </a:r>
            <a:r>
              <a:rPr dirty="0">
                <a:latin typeface="Century Schoolbook (Основной текст)"/>
              </a:rPr>
              <a:t> ГОСТ (RAG)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Интегрировать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локальную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языковую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модель</a:t>
            </a:r>
            <a:r>
              <a:rPr dirty="0">
                <a:latin typeface="Century Schoolbook (Основной текст)"/>
              </a:rPr>
              <a:t> (</a:t>
            </a:r>
            <a:r>
              <a:rPr dirty="0" err="1">
                <a:latin typeface="Century Schoolbook (Основной текст)"/>
              </a:rPr>
              <a:t>Ollama</a:t>
            </a:r>
            <a:r>
              <a:rPr dirty="0">
                <a:latin typeface="Century Schoolbook (Основной текст)"/>
              </a:rPr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Обработать</a:t>
            </a:r>
            <a:r>
              <a:rPr dirty="0">
                <a:latin typeface="Century Schoolbook (Основной текст)"/>
              </a:rPr>
              <a:t> и </a:t>
            </a:r>
            <a:r>
              <a:rPr dirty="0" err="1">
                <a:latin typeface="Century Schoolbook (Основной текст)"/>
              </a:rPr>
              <a:t>векторизовать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нормативные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документы</a:t>
            </a:r>
            <a:endParaRPr dirty="0">
              <a:latin typeface="Century Schoolbook (Основной текст)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Создать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веб-интерфейс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для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взаимодействия</a:t>
            </a:r>
            <a:endParaRPr dirty="0">
              <a:latin typeface="Century Schoolbook (Основной текст)"/>
            </a:endParaRP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>
                <a:latin typeface="Century Schoolbook (Основной текст)"/>
              </a:rPr>
              <a:t>Обеспечить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полную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локальную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работу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без</a:t>
            </a:r>
            <a:r>
              <a:rPr dirty="0">
                <a:latin typeface="Century Schoolbook (Основной текст)"/>
              </a:rPr>
              <a:t> </a:t>
            </a:r>
            <a:r>
              <a:rPr dirty="0" err="1">
                <a:latin typeface="Century Schoolbook (Основной текст)"/>
              </a:rPr>
              <a:t>интернета</a:t>
            </a:r>
            <a:endParaRPr dirty="0">
              <a:latin typeface="Century Schoolbook (Основной текст)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Инструменты</a:t>
            </a:r>
            <a:r>
              <a:rPr dirty="0"/>
              <a:t> и </a:t>
            </a:r>
            <a:r>
              <a:rPr dirty="0" err="1"/>
              <a:t>технологии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graphicFrame>
        <p:nvGraphicFramePr>
          <p:cNvPr id="9" name="Таблица 8">
            <a:extLst>
              <a:ext uri="{FF2B5EF4-FFF2-40B4-BE49-F238E27FC236}">
                <a16:creationId xmlns:a16="http://schemas.microsoft.com/office/drawing/2014/main" id="{1C2580E7-1F92-6FC7-452F-4C4841ECCA02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392792562"/>
              </p:ext>
            </p:extLst>
          </p:nvPr>
        </p:nvGraphicFramePr>
        <p:xfrm>
          <a:off x="457200" y="1294951"/>
          <a:ext cx="11274552" cy="4572000"/>
        </p:xfrm>
        <a:graphic>
          <a:graphicData uri="http://schemas.openxmlformats.org/drawingml/2006/table">
            <a:tbl>
              <a:tblPr firstRow="1" bandRow="1">
                <a:tableStyleId>{00A15C55-8517-42AA-B614-E9B94910E393}</a:tableStyleId>
              </a:tblPr>
              <a:tblGrid>
                <a:gridCol w="3842297">
                  <a:extLst>
                    <a:ext uri="{9D8B030D-6E8A-4147-A177-3AD203B41FA5}">
                      <a16:colId xmlns:a16="http://schemas.microsoft.com/office/drawing/2014/main" val="968608319"/>
                    </a:ext>
                  </a:extLst>
                </a:gridCol>
                <a:gridCol w="7432255">
                  <a:extLst>
                    <a:ext uri="{9D8B030D-6E8A-4147-A177-3AD203B41FA5}">
                      <a16:colId xmlns:a16="http://schemas.microsoft.com/office/drawing/2014/main" val="252915390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Бэкенд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0" dirty="0">
                          <a:solidFill>
                            <a:schemeClr val="tx1"/>
                          </a:solidFill>
                        </a:rPr>
                        <a:t>Python 3.1</a:t>
                      </a:r>
                      <a:r>
                        <a:rPr lang="ru-RU" sz="2400" b="0" dirty="0">
                          <a:solidFill>
                            <a:schemeClr val="tx1"/>
                          </a:solidFill>
                        </a:rPr>
                        <a:t>2+, </a:t>
                      </a:r>
                      <a:r>
                        <a:rPr lang="en-US" sz="2400" b="0" dirty="0" err="1">
                          <a:solidFill>
                            <a:schemeClr val="tx1"/>
                          </a:solidFill>
                        </a:rPr>
                        <a:t>FastAPI</a:t>
                      </a:r>
                      <a:endParaRPr lang="en-US" sz="2400" b="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61060503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RAG-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фреймворк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LangChain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ChromaDB</a:t>
                      </a:r>
                      <a:endParaRPr lang="en-US" sz="2400" dirty="0">
                        <a:solidFill>
                          <a:schemeClr val="tx1"/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624684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 err="1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Эмбеддинг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-модель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BAAI/bge-m3 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660509335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LLM</a:t>
                      </a:r>
                      <a:endParaRPr lang="ru-RU" sz="2400" b="1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Ollama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(</a:t>
                      </a:r>
                      <a:r>
                        <a:rPr lang="en-US" sz="2400" b="0" kern="120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qwen2.5:7b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481057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Фронтенд</a:t>
                      </a:r>
                      <a:endParaRPr lang="ru-RU" sz="2400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React 18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9167400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Язык фронтенда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JavaScript (ES6+), JSX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17525074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Библиотека </a:t>
                      </a: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UI</a:t>
                      </a:r>
                      <a:endParaRPr lang="ru-RU" sz="2400" b="1" dirty="0">
                        <a:solidFill>
                          <a:schemeClr val="accent1">
                            <a:lumMod val="75000"/>
                          </a:schemeClr>
                        </a:solidFill>
                      </a:endParaRP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CSS Modules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52322895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HTTP-</a:t>
                      </a: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клиент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dirty="0" err="1">
                          <a:solidFill>
                            <a:schemeClr val="tx1"/>
                          </a:solidFill>
                        </a:rPr>
                        <a:t>Axios</a:t>
                      </a:r>
                      <a:r>
                        <a:rPr lang="ru-RU" sz="2400" dirty="0">
                          <a:solidFill>
                            <a:schemeClr val="tx1"/>
                          </a:solidFill>
                        </a:rPr>
                        <a:t> (библиотека JS для выполнения HTTP-запросов)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0252605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Векторная БД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ChromaDB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 (persistent)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40182457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ru-RU" sz="2400" b="1" dirty="0">
                          <a:solidFill>
                            <a:schemeClr val="accent1">
                              <a:lumMod val="75000"/>
                            </a:schemeClr>
                          </a:solidFill>
                        </a:rPr>
                        <a:t>Обработка документов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PyMuPDF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</a:t>
                      </a:r>
                      <a:r>
                        <a:rPr lang="en-US" sz="2400" dirty="0" err="1">
                          <a:solidFill>
                            <a:schemeClr val="tx1"/>
                          </a:solidFill>
                        </a:rPr>
                        <a:t>pdfminer</a:t>
                      </a:r>
                      <a:r>
                        <a:rPr lang="en-US" sz="2400" dirty="0">
                          <a:solidFill>
                            <a:schemeClr val="tx1"/>
                          </a:solidFill>
                        </a:rPr>
                        <a:t>, python-docx</a:t>
                      </a:r>
                    </a:p>
                  </a:txBody>
                  <a:tcPr anchor="ctr">
                    <a:lnL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587613040"/>
                  </a:ext>
                </a:extLst>
              </a:tr>
            </a:tbl>
          </a:graphicData>
        </a:graphic>
      </p:graphicFrame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Архитектура системы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ounded Rectangle 3"/>
          <p:cNvSpPr/>
          <p:nvPr/>
        </p:nvSpPr>
        <p:spPr>
          <a:xfrm>
            <a:off x="1828800" y="1371600"/>
            <a:ext cx="8531352" cy="914400"/>
          </a:xfrm>
          <a:prstGeom prst="roundRect">
            <a:avLst/>
          </a:prstGeom>
          <a:solidFill>
            <a:srgbClr val="BDD7EE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>
              <a:defRPr sz="2200" b="1">
                <a:solidFill>
                  <a:srgbClr val="002060"/>
                </a:solidFill>
                <a:latin typeface="Century Schoolbook"/>
              </a:defRPr>
            </a:pPr>
            <a:r>
              <a:rPr dirty="0"/>
              <a:t>ФРОНТЕНД (React)</a:t>
            </a:r>
          </a:p>
        </p:txBody>
      </p:sp>
      <p:sp>
        <p:nvSpPr>
          <p:cNvPr id="5" name="Down Arrow 4"/>
          <p:cNvSpPr/>
          <p:nvPr/>
        </p:nvSpPr>
        <p:spPr>
          <a:xfrm>
            <a:off x="5029200" y="2377440"/>
            <a:ext cx="2130552" cy="457200"/>
          </a:xfrm>
          <a:prstGeom prst="downArrow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6" name="TextBox 5"/>
          <p:cNvSpPr txBox="1"/>
          <p:nvPr/>
        </p:nvSpPr>
        <p:spPr>
          <a:xfrm>
            <a:off x="4114800" y="2834640"/>
            <a:ext cx="395935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1800" b="1">
                <a:solidFill>
                  <a:srgbClr val="FFC000"/>
                </a:solidFill>
                <a:latin typeface="Century Schoolbook"/>
              </a:defRPr>
            </a:pPr>
            <a:r>
              <a:rPr dirty="0"/>
              <a:t>REST API</a:t>
            </a:r>
          </a:p>
        </p:txBody>
      </p:sp>
      <p:sp>
        <p:nvSpPr>
          <p:cNvPr id="7" name="Down Arrow 6"/>
          <p:cNvSpPr/>
          <p:nvPr/>
        </p:nvSpPr>
        <p:spPr>
          <a:xfrm>
            <a:off x="5029200" y="3200400"/>
            <a:ext cx="2130552" cy="457200"/>
          </a:xfrm>
          <a:prstGeom prst="downArrow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8" name="Rounded Rectangle 7"/>
          <p:cNvSpPr/>
          <p:nvPr/>
        </p:nvSpPr>
        <p:spPr>
          <a:xfrm>
            <a:off x="1371600" y="3749039"/>
            <a:ext cx="9445752" cy="1795603"/>
          </a:xfrm>
          <a:prstGeom prst="roundRect">
            <a:avLst/>
          </a:prstGeom>
          <a:solidFill>
            <a:srgbClr val="F2F2F2"/>
          </a:solidFill>
          <a:ln>
            <a:solidFill>
              <a:srgbClr val="00206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/>
          <a:lstStyle/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БЭКЕНД (</a:t>
            </a:r>
            <a:r>
              <a:rPr dirty="0" err="1"/>
              <a:t>FastAPI</a:t>
            </a:r>
            <a:r>
              <a:rPr dirty="0"/>
              <a:t>)</a:t>
            </a:r>
            <a:endParaRPr lang="ru-RU" dirty="0"/>
          </a:p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endParaRPr lang="ru-RU" dirty="0"/>
          </a:p>
          <a:p>
            <a:pPr algn="ctr">
              <a:defRPr sz="220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RAG Chain: Embedding → </a:t>
            </a:r>
            <a:r>
              <a:rPr dirty="0" err="1"/>
              <a:t>ChromaDB</a:t>
            </a:r>
            <a:r>
              <a:rPr dirty="0"/>
              <a:t> → LLM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/>
              <a:t>RAG </a:t>
            </a:r>
            <a:r>
              <a:rPr dirty="0" err="1"/>
              <a:t>архитектура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2" name="TextBox 11"/>
          <p:cNvSpPr txBox="1"/>
          <p:nvPr/>
        </p:nvSpPr>
        <p:spPr>
          <a:xfrm>
            <a:off x="640080" y="3840480"/>
            <a:ext cx="10881360" cy="205152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b="1" dirty="0" err="1"/>
              <a:t>Преимущества</a:t>
            </a:r>
            <a:r>
              <a:rPr sz="2400" b="1" dirty="0"/>
              <a:t>:</a:t>
            </a:r>
            <a:endParaRPr sz="24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Актуальная</a:t>
            </a:r>
            <a:r>
              <a:rPr sz="2400" dirty="0"/>
              <a:t> </a:t>
            </a:r>
            <a:r>
              <a:rPr sz="2400" dirty="0" err="1"/>
              <a:t>информация</a:t>
            </a:r>
            <a:r>
              <a:rPr sz="2400" dirty="0"/>
              <a:t> </a:t>
            </a:r>
            <a:r>
              <a:rPr sz="2400" dirty="0" err="1"/>
              <a:t>из</a:t>
            </a:r>
            <a:r>
              <a:rPr sz="2400" dirty="0"/>
              <a:t> </a:t>
            </a:r>
            <a:r>
              <a:rPr sz="2400" dirty="0" err="1"/>
              <a:t>документов</a:t>
            </a:r>
            <a:endParaRPr sz="24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Отсутствие</a:t>
            </a:r>
            <a:r>
              <a:rPr sz="2400" dirty="0"/>
              <a:t> </a:t>
            </a:r>
            <a:r>
              <a:rPr sz="2400" dirty="0" err="1"/>
              <a:t>галлюцинаций</a:t>
            </a:r>
            <a:r>
              <a:rPr sz="2400" dirty="0"/>
              <a:t> (</a:t>
            </a:r>
            <a:r>
              <a:rPr sz="2400" dirty="0" err="1"/>
              <a:t>ответ</a:t>
            </a:r>
            <a:r>
              <a:rPr sz="2400" dirty="0"/>
              <a:t> </a:t>
            </a:r>
            <a:r>
              <a:rPr sz="2400" dirty="0" err="1"/>
              <a:t>только</a:t>
            </a:r>
            <a:r>
              <a:rPr sz="2400" dirty="0"/>
              <a:t> </a:t>
            </a:r>
            <a:r>
              <a:rPr sz="2400" dirty="0" err="1"/>
              <a:t>по</a:t>
            </a:r>
            <a:r>
              <a:rPr sz="2400" dirty="0"/>
              <a:t> </a:t>
            </a:r>
            <a:r>
              <a:rPr sz="2400" dirty="0" err="1"/>
              <a:t>контексту</a:t>
            </a:r>
            <a:r>
              <a:rPr sz="2400"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200" b="0">
                <a:solidFill>
                  <a:srgbClr val="404040"/>
                </a:solidFill>
                <a:latin typeface="Century Schoolbook"/>
              </a:defRPr>
            </a:pPr>
            <a:r>
              <a:rPr sz="2400" dirty="0" err="1"/>
              <a:t>Полная</a:t>
            </a:r>
            <a:r>
              <a:rPr sz="2400" dirty="0"/>
              <a:t> </a:t>
            </a:r>
            <a:r>
              <a:rPr sz="2400" dirty="0" err="1"/>
              <a:t>локальная</a:t>
            </a:r>
            <a:r>
              <a:rPr sz="2400" dirty="0"/>
              <a:t> </a:t>
            </a:r>
            <a:r>
              <a:rPr sz="2400" dirty="0" err="1"/>
              <a:t>работа</a:t>
            </a:r>
            <a:r>
              <a:rPr sz="2400" dirty="0"/>
              <a:t> (</a:t>
            </a:r>
            <a:r>
              <a:rPr sz="2400" dirty="0" err="1"/>
              <a:t>конфиденциальность</a:t>
            </a:r>
            <a:r>
              <a:rPr sz="2400" dirty="0"/>
              <a:t>)</a:t>
            </a:r>
          </a:p>
        </p:txBody>
      </p:sp>
      <p:pic>
        <p:nvPicPr>
          <p:cNvPr id="19" name="Рисунок 18">
            <a:extLst>
              <a:ext uri="{FF2B5EF4-FFF2-40B4-BE49-F238E27FC236}">
                <a16:creationId xmlns:a16="http://schemas.microsoft.com/office/drawing/2014/main" id="{4ED50C26-ADC6-C338-3DBA-6D8FF90F2EF7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13410" y="1273043"/>
            <a:ext cx="10325149" cy="2567438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dirty="0"/>
              <a:t>темный синий и</a:t>
            </a:r>
            <a:r>
              <a:rPr dirty="0" err="1"/>
              <a:t>нтерфейс</a:t>
            </a:r>
            <a:endParaRPr dirty="0"/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8" name="Рисунок 7">
            <a:extLst>
              <a:ext uri="{FF2B5EF4-FFF2-40B4-BE49-F238E27FC236}">
                <a16:creationId xmlns:a16="http://schemas.microsoft.com/office/drawing/2014/main" id="{B8F0CA67-37B9-779E-B36D-E9C0E44A706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24712"/>
            <a:ext cx="11274552" cy="5236331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FDAD5BD-F1F3-DDCD-3A04-F1C08E10DEB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9E33D357-1FA6-2015-8656-CA4AFD27BF18}"/>
              </a:ext>
            </a:extLst>
          </p:cNvPr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dirty="0"/>
              <a:t>светлый и</a:t>
            </a:r>
            <a:r>
              <a:rPr dirty="0" err="1"/>
              <a:t>нтерфейс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044D35C2-0C54-8C0B-C6CF-FF7783F95696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6EF857A9-D84D-FE22-7F97-DCB03F87E784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124712"/>
            <a:ext cx="11274552" cy="54010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5085578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52D63A-82AD-7F11-2978-29B6D74796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B2065B65-7FBA-F417-974E-C7E3950412D4}"/>
              </a:ext>
            </a:extLst>
          </p:cNvPr>
          <p:cNvSpPr txBox="1"/>
          <p:nvPr/>
        </p:nvSpPr>
        <p:spPr>
          <a:xfrm>
            <a:off x="200025" y="274320"/>
            <a:ext cx="11858625" cy="10772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dirty="0" err="1"/>
              <a:t>Практическая</a:t>
            </a:r>
            <a:r>
              <a:rPr dirty="0"/>
              <a:t> </a:t>
            </a:r>
            <a:r>
              <a:rPr dirty="0" err="1"/>
              <a:t>часть</a:t>
            </a:r>
            <a:r>
              <a:rPr dirty="0"/>
              <a:t>: </a:t>
            </a:r>
            <a:r>
              <a:rPr lang="ru-RU" sz="3200" b="1" dirty="0"/>
              <a:t>демонстрация работы чат-бота</a:t>
            </a:r>
            <a:endParaRPr lang="ru-RU" sz="2400" b="1" dirty="0"/>
          </a:p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3FB5C538-3718-A174-2091-54AC0D5F8DFF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83D984FF-C56A-6D63-BB3C-563DCF259D2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097279"/>
            <a:ext cx="11274552" cy="54864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06352195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8AAFF2F-E829-CCB8-8F6A-270E3CFAD77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8B88E8ED-9C39-3B1A-E039-A98B19347EB9}"/>
              </a:ext>
            </a:extLst>
          </p:cNvPr>
          <p:cNvSpPr txBox="1"/>
          <p:nvPr/>
        </p:nvSpPr>
        <p:spPr>
          <a:xfrm>
            <a:off x="0" y="274320"/>
            <a:ext cx="12192000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lang="ru-RU" spc="-120" dirty="0"/>
              <a:t>Практическая часть: видео </a:t>
            </a:r>
            <a:r>
              <a:rPr lang="ru-RU" sz="3200" b="1" spc="-120" dirty="0"/>
              <a:t>демонстрации работы чат-бота</a:t>
            </a:r>
            <a:endParaRPr lang="ru-RU" sz="2400" b="1" spc="-120"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54C9EAEC-EB21-21A9-92E1-6815EB71DAA3}"/>
              </a:ext>
            </a:extLst>
          </p:cNvPr>
          <p:cNvSpPr/>
          <p:nvPr/>
        </p:nvSpPr>
        <p:spPr>
          <a:xfrm>
            <a:off x="457200" y="842929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</p:spTree>
    <p:extLst>
      <p:ext uri="{BB962C8B-B14F-4D97-AF65-F5344CB8AC3E}">
        <p14:creationId xmlns:p14="http://schemas.microsoft.com/office/powerpoint/2010/main" val="60659030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Кэширование ответов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452431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Реализовано</a:t>
            </a:r>
            <a:r>
              <a:rPr dirty="0"/>
              <a:t> </a:t>
            </a:r>
            <a:r>
              <a:rPr dirty="0" err="1"/>
              <a:t>двухуровневое</a:t>
            </a:r>
            <a:r>
              <a:rPr dirty="0"/>
              <a:t> </a:t>
            </a:r>
            <a:r>
              <a:rPr dirty="0" err="1"/>
              <a:t>кэширование</a:t>
            </a:r>
            <a:r>
              <a:rPr dirty="0"/>
              <a:t>: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Бэкенд</a:t>
            </a:r>
            <a:r>
              <a:rPr dirty="0"/>
              <a:t> (persistent JSON)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Сохраняется </a:t>
            </a:r>
            <a:r>
              <a:rPr dirty="0" err="1"/>
              <a:t>между</a:t>
            </a:r>
            <a:r>
              <a:rPr dirty="0"/>
              <a:t> </a:t>
            </a:r>
            <a:r>
              <a:rPr dirty="0" err="1"/>
              <a:t>перезапусками</a:t>
            </a:r>
            <a:r>
              <a:rPr dirty="0"/>
              <a:t> </a:t>
            </a:r>
            <a:r>
              <a:rPr dirty="0" err="1"/>
              <a:t>сервера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Автоматическое</a:t>
            </a:r>
            <a:r>
              <a:rPr dirty="0"/>
              <a:t> </a:t>
            </a:r>
            <a:r>
              <a:rPr dirty="0" err="1"/>
              <a:t>восстановление</a:t>
            </a:r>
            <a:r>
              <a:rPr dirty="0"/>
              <a:t> </a:t>
            </a:r>
            <a:r>
              <a:rPr dirty="0" err="1"/>
              <a:t>при</a:t>
            </a:r>
            <a:r>
              <a:rPr dirty="0"/>
              <a:t> </a:t>
            </a:r>
            <a:r>
              <a:rPr dirty="0" err="1"/>
              <a:t>повреждении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Фронтенд</a:t>
            </a:r>
            <a:r>
              <a:rPr dirty="0"/>
              <a:t> (memory cache)</a:t>
            </a:r>
          </a:p>
          <a:p>
            <a:pPr indent="266700"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• </a:t>
            </a:r>
            <a:r>
              <a:rPr dirty="0" err="1"/>
              <a:t>Мгновенный</a:t>
            </a:r>
            <a:r>
              <a:rPr dirty="0"/>
              <a:t> </a:t>
            </a:r>
            <a:r>
              <a:rPr dirty="0" err="1"/>
              <a:t>ответ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</a:t>
            </a:r>
            <a:r>
              <a:rPr dirty="0" err="1"/>
              <a:t>повторные</a:t>
            </a:r>
            <a:r>
              <a:rPr dirty="0"/>
              <a:t> </a:t>
            </a:r>
            <a:r>
              <a:rPr dirty="0" err="1"/>
              <a:t>запросы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Результат</a:t>
            </a:r>
            <a:r>
              <a:rPr dirty="0"/>
              <a:t>:</a:t>
            </a:r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Повторные</a:t>
            </a:r>
            <a:r>
              <a:rPr dirty="0"/>
              <a:t> </a:t>
            </a:r>
            <a:r>
              <a:rPr dirty="0" err="1"/>
              <a:t>запросы</a:t>
            </a:r>
            <a:r>
              <a:rPr dirty="0"/>
              <a:t> — </a:t>
            </a:r>
            <a:r>
              <a:rPr dirty="0" err="1"/>
              <a:t>менее</a:t>
            </a:r>
            <a:r>
              <a:rPr dirty="0"/>
              <a:t> 10 </a:t>
            </a:r>
            <a:r>
              <a:rPr dirty="0" err="1"/>
              <a:t>мс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/>
              <a:t>   • </a:t>
            </a:r>
            <a:r>
              <a:rPr dirty="0" err="1"/>
              <a:t>Снижение</a:t>
            </a:r>
            <a:r>
              <a:rPr dirty="0"/>
              <a:t> </a:t>
            </a:r>
            <a:r>
              <a:rPr dirty="0" err="1"/>
              <a:t>нагрузки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LLM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Планы на улучшение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341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Авторизация</a:t>
            </a:r>
            <a:r>
              <a:rPr dirty="0"/>
              <a:t> и </a:t>
            </a:r>
            <a:r>
              <a:rPr dirty="0" err="1"/>
              <a:t>роли</a:t>
            </a:r>
            <a:r>
              <a:rPr dirty="0"/>
              <a:t> (JWT)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Мобильная</a:t>
            </a:r>
            <a:r>
              <a:rPr dirty="0"/>
              <a:t> </a:t>
            </a:r>
            <a:r>
              <a:rPr dirty="0" err="1"/>
              <a:t>версия</a:t>
            </a:r>
            <a:r>
              <a:rPr dirty="0"/>
              <a:t> (PWA)</a:t>
            </a:r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Уведомления</a:t>
            </a:r>
            <a:r>
              <a:rPr dirty="0"/>
              <a:t> </a:t>
            </a:r>
            <a:r>
              <a:rPr dirty="0" err="1"/>
              <a:t>об</a:t>
            </a:r>
            <a:r>
              <a:rPr dirty="0"/>
              <a:t> </a:t>
            </a:r>
            <a:r>
              <a:rPr dirty="0" err="1"/>
              <a:t>обновлении</a:t>
            </a:r>
            <a:r>
              <a:rPr dirty="0"/>
              <a:t> </a:t>
            </a:r>
            <a:r>
              <a:rPr dirty="0" err="1"/>
              <a:t>документов</a:t>
            </a: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Расширенная</a:t>
            </a:r>
            <a:r>
              <a:rPr dirty="0"/>
              <a:t> </a:t>
            </a:r>
            <a:r>
              <a:rPr dirty="0" err="1"/>
              <a:t>аналитика</a:t>
            </a:r>
            <a:r>
              <a:rPr dirty="0"/>
              <a:t> </a:t>
            </a:r>
            <a:r>
              <a:rPr dirty="0" err="1"/>
              <a:t>запросов</a:t>
            </a:r>
            <a:endParaRPr lang="ru-RU"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E56D16D-A070-85DE-58AC-FBD4912C115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AA953888-247B-E3ED-F37A-060571A69D28}"/>
              </a:ext>
            </a:extLst>
          </p:cNvPr>
          <p:cNvSpPr txBox="1"/>
          <p:nvPr/>
        </p:nvSpPr>
        <p:spPr>
          <a:xfrm>
            <a:off x="457200" y="274320"/>
            <a:ext cx="11274552" cy="584775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rPr lang="ru-RU" dirty="0"/>
              <a:t>Результаты</a:t>
            </a:r>
            <a:endParaRPr dirty="0"/>
          </a:p>
        </p:txBody>
      </p:sp>
      <p:sp>
        <p:nvSpPr>
          <p:cNvPr id="3" name="Rectangle 2">
            <a:extLst>
              <a:ext uri="{FF2B5EF4-FFF2-40B4-BE49-F238E27FC236}">
                <a16:creationId xmlns:a16="http://schemas.microsoft.com/office/drawing/2014/main" id="{E0236579-3834-D759-E292-F34DE1463688}"/>
              </a:ext>
            </a:extLst>
          </p:cNvPr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498F64BB-F52B-A478-8588-63A864DBB6E5}"/>
              </a:ext>
            </a:extLst>
          </p:cNvPr>
          <p:cNvSpPr txBox="1"/>
          <p:nvPr/>
        </p:nvSpPr>
        <p:spPr>
          <a:xfrm>
            <a:off x="457200" y="1280160"/>
            <a:ext cx="11319971" cy="34163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 err="1"/>
              <a:t>Точность</a:t>
            </a:r>
            <a:r>
              <a:rPr sz="2800" dirty="0"/>
              <a:t> </a:t>
            </a:r>
            <a:r>
              <a:rPr sz="2800" dirty="0" err="1"/>
              <a:t>ответов</a:t>
            </a:r>
            <a:r>
              <a:rPr sz="2800" dirty="0"/>
              <a:t>: ~</a:t>
            </a:r>
            <a:r>
              <a:rPr lang="en-US" sz="2800" dirty="0"/>
              <a:t>91</a:t>
            </a:r>
            <a:r>
              <a:rPr sz="2800" dirty="0"/>
              <a:t>% </a:t>
            </a:r>
            <a:r>
              <a:rPr sz="2800" dirty="0" err="1"/>
              <a:t>по</a:t>
            </a:r>
            <a:r>
              <a:rPr sz="2800" dirty="0"/>
              <a:t> </a:t>
            </a:r>
            <a:r>
              <a:rPr sz="2800" dirty="0" err="1"/>
              <a:t>нормативным</a:t>
            </a:r>
            <a:r>
              <a:rPr sz="2800" dirty="0"/>
              <a:t> </a:t>
            </a:r>
            <a:r>
              <a:rPr sz="2800" dirty="0" err="1"/>
              <a:t>документам</a:t>
            </a:r>
            <a:endParaRPr sz="2800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 err="1"/>
              <a:t>Скорость</a:t>
            </a:r>
            <a:r>
              <a:rPr sz="2800" dirty="0"/>
              <a:t> </a:t>
            </a:r>
            <a:r>
              <a:rPr sz="2800" dirty="0" err="1"/>
              <a:t>ответа</a:t>
            </a:r>
            <a:r>
              <a:rPr sz="2800" dirty="0"/>
              <a:t>: </a:t>
            </a:r>
            <a:r>
              <a:rPr lang="ru-RU" sz="2800" dirty="0"/>
              <a:t>10</a:t>
            </a:r>
            <a:r>
              <a:rPr sz="2800" dirty="0"/>
              <a:t>-</a:t>
            </a:r>
            <a:r>
              <a:rPr lang="ru-RU" sz="2800" dirty="0"/>
              <a:t>30</a:t>
            </a:r>
            <a:r>
              <a:rPr sz="2800" dirty="0"/>
              <a:t> </a:t>
            </a:r>
            <a:r>
              <a:rPr sz="2800" dirty="0" err="1"/>
              <a:t>сек</a:t>
            </a:r>
            <a:r>
              <a:rPr sz="2800" dirty="0"/>
              <a:t> (с </a:t>
            </a:r>
            <a:r>
              <a:rPr sz="2800" dirty="0" err="1"/>
              <a:t>кэшем</a:t>
            </a:r>
            <a:r>
              <a:rPr sz="2800" dirty="0"/>
              <a:t> — </a:t>
            </a:r>
            <a:r>
              <a:rPr sz="2800" dirty="0" err="1"/>
              <a:t>мгновенно</a:t>
            </a:r>
            <a:r>
              <a:rPr sz="2800"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sz="2800" dirty="0"/>
              <a:t>Обработано: </a:t>
            </a:r>
            <a:r>
              <a:rPr lang="ru-RU" sz="2800" dirty="0"/>
              <a:t>500</a:t>
            </a:r>
            <a:r>
              <a:rPr sz="2800" dirty="0"/>
              <a:t>+ </a:t>
            </a:r>
            <a:r>
              <a:rPr lang="ru-RU" sz="2800" dirty="0" err="1"/>
              <a:t>чанков</a:t>
            </a:r>
            <a:r>
              <a:rPr lang="ru-RU" sz="2800" dirty="0"/>
              <a:t> (фрагментов) </a:t>
            </a:r>
            <a:r>
              <a:rPr sz="2800" dirty="0" err="1"/>
              <a:t>нормативной</a:t>
            </a:r>
            <a:r>
              <a:rPr sz="2800" dirty="0"/>
              <a:t> </a:t>
            </a:r>
            <a:r>
              <a:rPr sz="2800" dirty="0" err="1"/>
              <a:t>документации</a:t>
            </a:r>
            <a:endParaRPr sz="2800"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  <p:extLst>
      <p:ext uri="{BB962C8B-B14F-4D97-AF65-F5344CB8AC3E}">
        <p14:creationId xmlns:p14="http://schemas.microsoft.com/office/powerpoint/2010/main" val="3223842039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457200" y="274320"/>
            <a:ext cx="11274552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ctr">
              <a:defRPr sz="3200" b="1">
                <a:solidFill>
                  <a:srgbClr val="002060"/>
                </a:solidFill>
                <a:latin typeface="Century Schoolbook"/>
              </a:defRPr>
            </a:pPr>
            <a:r>
              <a:t>Заключение</a:t>
            </a:r>
          </a:p>
        </p:txBody>
      </p:sp>
      <p:sp>
        <p:nvSpPr>
          <p:cNvPr id="3" name="Rectangle 2"/>
          <p:cNvSpPr/>
          <p:nvPr/>
        </p:nvSpPr>
        <p:spPr>
          <a:xfrm>
            <a:off x="457200" y="1097280"/>
            <a:ext cx="11274552" cy="27432"/>
          </a:xfrm>
          <a:prstGeom prst="rect">
            <a:avLst/>
          </a:prstGeom>
          <a:solidFill>
            <a:srgbClr val="00539C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TextBox 3"/>
          <p:cNvSpPr txBox="1"/>
          <p:nvPr/>
        </p:nvSpPr>
        <p:spPr>
          <a:xfrm>
            <a:off x="640080" y="1280160"/>
            <a:ext cx="10881360" cy="3970318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Выполнен</a:t>
            </a:r>
            <a:r>
              <a:rPr dirty="0"/>
              <a:t> </a:t>
            </a:r>
            <a:r>
              <a:rPr dirty="0" err="1"/>
              <a:t>полный</a:t>
            </a:r>
            <a:r>
              <a:rPr dirty="0"/>
              <a:t> </a:t>
            </a:r>
            <a:r>
              <a:rPr dirty="0" err="1"/>
              <a:t>цикл</a:t>
            </a:r>
            <a:r>
              <a:rPr dirty="0"/>
              <a:t> </a:t>
            </a:r>
            <a:r>
              <a:rPr dirty="0" err="1"/>
              <a:t>разработки</a:t>
            </a:r>
            <a:r>
              <a:rPr dirty="0"/>
              <a:t>: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Спроектирована</a:t>
            </a:r>
            <a:r>
              <a:rPr dirty="0"/>
              <a:t> </a:t>
            </a:r>
            <a:r>
              <a:rPr dirty="0" err="1"/>
              <a:t>архитектура</a:t>
            </a:r>
            <a:r>
              <a:rPr dirty="0"/>
              <a:t> RAG-</a:t>
            </a:r>
            <a:r>
              <a:rPr dirty="0" err="1"/>
              <a:t>системы</a:t>
            </a:r>
            <a:endParaRPr lang="ru-RU"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Реализован</a:t>
            </a:r>
            <a:r>
              <a:rPr dirty="0"/>
              <a:t> </a:t>
            </a:r>
            <a:r>
              <a:rPr dirty="0" err="1"/>
              <a:t>семантический</a:t>
            </a:r>
            <a:r>
              <a:rPr dirty="0"/>
              <a:t> </a:t>
            </a:r>
            <a:r>
              <a:rPr dirty="0" err="1"/>
              <a:t>поиск</a:t>
            </a:r>
            <a:r>
              <a:rPr dirty="0"/>
              <a:t> </a:t>
            </a:r>
            <a:r>
              <a:rPr dirty="0" err="1"/>
              <a:t>по</a:t>
            </a:r>
            <a:r>
              <a:rPr dirty="0"/>
              <a:t> </a:t>
            </a:r>
            <a:r>
              <a:rPr dirty="0" err="1"/>
              <a:t>нормативной</a:t>
            </a:r>
            <a:r>
              <a:rPr dirty="0"/>
              <a:t> </a:t>
            </a:r>
            <a:r>
              <a:rPr dirty="0" err="1"/>
              <a:t>документации</a:t>
            </a:r>
            <a:endParaRPr dirty="0"/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Интегрирована</a:t>
            </a:r>
            <a:r>
              <a:rPr dirty="0"/>
              <a:t> </a:t>
            </a:r>
            <a:r>
              <a:rPr dirty="0" err="1"/>
              <a:t>локальная</a:t>
            </a:r>
            <a:r>
              <a:rPr dirty="0"/>
              <a:t> </a:t>
            </a:r>
            <a:r>
              <a:rPr dirty="0" err="1"/>
              <a:t>языковая</a:t>
            </a:r>
            <a:r>
              <a:rPr dirty="0"/>
              <a:t> </a:t>
            </a:r>
            <a:r>
              <a:rPr dirty="0" err="1"/>
              <a:t>модель</a:t>
            </a:r>
            <a:r>
              <a:rPr dirty="0"/>
              <a:t> (</a:t>
            </a:r>
            <a:r>
              <a:rPr dirty="0" err="1"/>
              <a:t>Ollama</a:t>
            </a:r>
            <a:r>
              <a:rPr dirty="0"/>
              <a:t>)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Создан</a:t>
            </a:r>
            <a:r>
              <a:rPr dirty="0"/>
              <a:t> </a:t>
            </a:r>
            <a:r>
              <a:rPr dirty="0" err="1"/>
              <a:t>современный</a:t>
            </a:r>
            <a:r>
              <a:rPr dirty="0"/>
              <a:t> </a:t>
            </a:r>
            <a:r>
              <a:rPr dirty="0" err="1"/>
              <a:t>веб-интерфейс</a:t>
            </a:r>
            <a:r>
              <a:rPr dirty="0"/>
              <a:t> </a:t>
            </a:r>
            <a:r>
              <a:rPr dirty="0" err="1"/>
              <a:t>на</a:t>
            </a:r>
            <a:r>
              <a:rPr dirty="0"/>
              <a:t> React</a:t>
            </a:r>
          </a:p>
          <a:p>
            <a:pPr marL="342900" indent="-342900" algn="l">
              <a:lnSpc>
                <a:spcPct val="150000"/>
              </a:lnSpc>
              <a:buFont typeface="Arial" panose="020B0604020202020204" pitchFamily="34" charset="0"/>
              <a:buChar char="•"/>
              <a:defRPr sz="2400" b="0">
                <a:solidFill>
                  <a:srgbClr val="404040"/>
                </a:solidFill>
                <a:latin typeface="Century Schoolbook"/>
              </a:defRPr>
            </a:pPr>
            <a:r>
              <a:rPr dirty="0" err="1"/>
              <a:t>Внедрено</a:t>
            </a:r>
            <a:r>
              <a:rPr dirty="0"/>
              <a:t> </a:t>
            </a:r>
            <a:r>
              <a:rPr dirty="0" err="1"/>
              <a:t>двухуровневое</a:t>
            </a:r>
            <a:r>
              <a:rPr dirty="0"/>
              <a:t> </a:t>
            </a:r>
            <a:r>
              <a:rPr dirty="0" err="1"/>
              <a:t>кэширование</a:t>
            </a:r>
            <a:r>
              <a:rPr dirty="0"/>
              <a:t> </a:t>
            </a:r>
            <a:r>
              <a:rPr dirty="0" err="1"/>
              <a:t>ответов</a:t>
            </a: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  <a:p>
            <a:pPr algn="l">
              <a:defRPr sz="2400" b="0">
                <a:solidFill>
                  <a:srgbClr val="404040"/>
                </a:solidFill>
                <a:latin typeface="Century Schoolbook"/>
              </a:defRPr>
            </a:pPr>
            <a:endParaRPr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235</TotalTime>
  <Words>402</Words>
  <Application>Microsoft Office PowerPoint</Application>
  <PresentationFormat>Широкоэкранный</PresentationFormat>
  <Paragraphs>95</Paragraphs>
  <Slides>14</Slides>
  <Notes>1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5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14</vt:i4>
      </vt:variant>
    </vt:vector>
  </HeadingPairs>
  <TitlesOfParts>
    <vt:vector size="20" baseType="lpstr">
      <vt:lpstr>Arial</vt:lpstr>
      <vt:lpstr>Calibri</vt:lpstr>
      <vt:lpstr>Calibri Light</vt:lpstr>
      <vt:lpstr>Century Schoolbook</vt:lpstr>
      <vt:lpstr>Century Schoolbook (Основной текст)</vt:lpstr>
      <vt:lpstr>Тема Office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alfa alfa</cp:lastModifiedBy>
  <cp:revision>68</cp:revision>
  <dcterms:created xsi:type="dcterms:W3CDTF">2013-01-27T09:14:16Z</dcterms:created>
  <dcterms:modified xsi:type="dcterms:W3CDTF">2026-04-24T17:02:46Z</dcterms:modified>
  <cp:category/>
</cp:coreProperties>
</file>