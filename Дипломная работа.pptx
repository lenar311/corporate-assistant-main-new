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3" r:id="rId1"/>
  </p:sldMasterIdLst>
  <p:notesMasterIdLst>
    <p:notesMasterId r:id="rId16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72" r:id="rId10"/>
    <p:sldId id="273" r:id="rId11"/>
    <p:sldId id="263" r:id="rId12"/>
    <p:sldId id="264" r:id="rId13"/>
    <p:sldId id="274" r:id="rId14"/>
    <p:sldId id="265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687" y="2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CC010F-CE16-4952-BAFA-FB15BF6A3E9E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A63985-7026-4782-8A86-48E0155758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944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A63985-7026-4782-8A86-48E015575855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625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8DF87E-7C5A-6508-6952-6E059F13F2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E31122E-F6C5-517B-7716-150BD9851B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C35B98-454E-4D6A-A28C-5DCB2A180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A4ABBA-211B-0BD4-38EF-883A3AC75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D58C96-3275-CCA0-893D-005307B74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6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FD7967-1ADB-90A2-5CF2-2F4213415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1DC0BE-0A07-21FD-6FB7-782E60E1D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B05DD9-2B2D-9BF8-8693-4E9D7AA45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BDBBB2-C8CF-650A-C604-251ED5AD3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E19D47-771A-B632-3A68-AD91B21A2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263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AC66B1-A9D0-303E-8B5A-C1BDCEF2F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E3D9548-6043-D9BE-2860-21BE6E4DD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AFE036-0229-122A-3849-7AC56E1CB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24B6E8-8E21-97C4-4DAF-FAE52D39B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96DC98-48DE-906A-4229-B6AF3EF8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35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20FCB-AC15-71D9-EA18-776CEA195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4365C5-780E-9B7F-373D-839129FBB7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49C6B4-A3D8-64F2-5B14-F35B7AC9E8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BA3C5BC-EEBA-1E83-22DC-CC6D2235B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61C497-30D7-5B0F-DF97-A61C68FDD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73E758B-600B-AC76-D614-6364C96D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85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5A85F3-4EFF-7A11-0E53-AD11BFC92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85956A0-72B0-5E25-78D6-C6089EC91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31840D3-8EC5-978E-9227-55CFA0A0E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7ABB0FD-F9FB-7DE1-EF53-EBF212BA70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8AA78D0-6556-D649-413F-7BC765BF6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0812556-9648-3870-15ED-050D8E222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CA3680D-A7A3-BFBF-4CF4-134D078F3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ADAF26B-E296-1E1E-BE66-FB659BE6B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000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270D76-363B-A5A9-2CA1-410A801EF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F2CD05-0934-19CA-1675-B517B71A7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FB21AD0-B2FF-A86C-354C-87B60B2AE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707A9BB-11C8-6F4D-842F-6461F77C6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00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187822F-C2D6-F6FB-51E4-497B7E3A4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D09C227-93DA-A2E6-8529-6C3D353C3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33E736-9E6D-A4B6-D66C-AE5D5E2CE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88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DE3551-0514-7A9A-0D02-5EF3347BD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295731-AEF2-6FF9-77E6-2EE464731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81DDEFB-B413-A92F-81F9-2EFDB45AD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DBD5DE-B416-F694-96B0-423585BC5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B3DFD37-1D29-9829-4B20-852A104CC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204F61-C8E8-AA3C-AF54-D7A4AAB66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04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4E3CC4-078F-2582-6161-34E337F16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10C2098-B65E-ADE6-96A7-BA8AF6FB85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EE35EF3-316F-6425-356A-7A291E1030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5831C2-2A87-064E-E54B-06C7B9BE0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4AE1F4-B0E6-B856-5AD6-CD607CCD5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747E69-2888-4E50-7690-465BD2541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274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E351E-A7D8-C1C7-EB99-291947562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18F12B7-83FD-0BB6-EB54-476709A9F7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4846AC-A331-A1D1-1B5A-4E277D234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9726A8-A4A4-4643-CD93-73412B8C7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5574C0-9E9D-B9EB-B8BE-ED2682013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005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4DA181E-B51B-8579-ECDF-928020ECB8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01D0897-0452-B080-E1ED-A00A4D1BCB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E95B55-49DC-B988-8E1C-8B21CB411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0F21E8-C1BF-AD76-385A-1A66C0F32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CF65CE1-8B7A-36D2-B679-626C53119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72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33D4C0-8948-8F71-140D-F857E0D91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B5FDFD-0174-E84B-F4B7-B530E70E3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F8890C-E826-E174-E96C-C763270AC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2FB381-8889-E08F-28A0-4DF9F00841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0F1C278-85A9-1974-2679-D43E2F9EC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10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1A80381-6279-4B81-3FAA-D987C57C6362}"/>
              </a:ext>
            </a:extLst>
          </p:cNvPr>
          <p:cNvSpPr/>
          <p:nvPr/>
        </p:nvSpPr>
        <p:spPr>
          <a:xfrm>
            <a:off x="0" y="0"/>
            <a:ext cx="1084729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2F3765-CB0C-7D4F-5DDE-2DBE8D074C01}"/>
              </a:ext>
            </a:extLst>
          </p:cNvPr>
          <p:cNvSpPr txBox="1"/>
          <p:nvPr/>
        </p:nvSpPr>
        <p:spPr>
          <a:xfrm>
            <a:off x="2841807" y="232646"/>
            <a:ext cx="80503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Century Schoolbook" panose="02040604050505020304" pitchFamily="18" charset="0"/>
              </a:rPr>
              <a:t>Компьютерная</a:t>
            </a:r>
            <a:r>
              <a:rPr lang="ru-RU" sz="3600" dirty="0">
                <a:latin typeface="Century Schoolbook" panose="02040604050505020304" pitchFamily="18" charset="0"/>
              </a:rPr>
              <a:t> Академия Топ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EFC39D-85B2-DE83-FFE0-83D5CD819751}"/>
              </a:ext>
            </a:extLst>
          </p:cNvPr>
          <p:cNvSpPr txBox="1"/>
          <p:nvPr/>
        </p:nvSpPr>
        <p:spPr>
          <a:xfrm>
            <a:off x="3798784" y="971310"/>
            <a:ext cx="6136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Century Schoolbook" panose="02040604050505020304" pitchFamily="18" charset="0"/>
              </a:rPr>
              <a:t>Дипломная работа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1AD0AD-30C9-B8E9-09CA-D22F84932F9C}"/>
              </a:ext>
            </a:extLst>
          </p:cNvPr>
          <p:cNvSpPr txBox="1"/>
          <p:nvPr/>
        </p:nvSpPr>
        <p:spPr>
          <a:xfrm>
            <a:off x="2153759" y="2397948"/>
            <a:ext cx="98208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Century Schoolbook" panose="02040604050505020304" pitchFamily="18" charset="0"/>
              </a:rPr>
              <a:t>Настольная информационная система корпоративного ассистирования с локальной обработкой естественного языка</a:t>
            </a:r>
            <a:endParaRPr lang="ru-RU" sz="4800" b="1" dirty="0">
              <a:latin typeface="Century Schoolbook" panose="020406040505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939D7A-0EF9-0DC3-AB3E-B097756A7CC2}"/>
              </a:ext>
            </a:extLst>
          </p:cNvPr>
          <p:cNvSpPr txBox="1"/>
          <p:nvPr/>
        </p:nvSpPr>
        <p:spPr>
          <a:xfrm>
            <a:off x="3249907" y="4584985"/>
            <a:ext cx="854605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1344166">
              <a:spcBef>
                <a:spcPts val="1200"/>
              </a:spcBef>
              <a:tabLst>
                <a:tab pos="4724400" algn="l"/>
              </a:tabLst>
              <a:defRPr sz="2300"/>
            </a:pPr>
            <a:r>
              <a:rPr lang="ru-RU" sz="2400" b="1" dirty="0">
                <a:solidFill>
                  <a:schemeClr val="tx1"/>
                </a:solidFill>
                <a:latin typeface="Century Schoolbook" panose="02040604050505020304" pitchFamily="18" charset="0"/>
                <a:cs typeface="Calibri" panose="020F0502020204030204" pitchFamily="34" charset="0"/>
              </a:rPr>
              <a:t>Автор</a:t>
            </a:r>
            <a:r>
              <a:rPr lang="ru-RU" sz="2400" dirty="0">
                <a:solidFill>
                  <a:schemeClr val="tx1"/>
                </a:solidFill>
                <a:latin typeface="Century Schoolbook" panose="02040604050505020304" pitchFamily="18" charset="0"/>
                <a:cs typeface="Calibri" panose="020F0502020204030204" pitchFamily="34" charset="0"/>
              </a:rPr>
              <a:t>:</a:t>
            </a:r>
            <a:r>
              <a:rPr lang="ru-RU" sz="2400" b="1" dirty="0">
                <a:solidFill>
                  <a:schemeClr val="tx1"/>
                </a:solidFill>
                <a:latin typeface="Century Schoolbook" panose="02040604050505020304" pitchFamily="18" charset="0"/>
                <a:cs typeface="Calibri" panose="020F0502020204030204" pitchFamily="34" charset="0"/>
              </a:rPr>
              <a:t>  </a:t>
            </a:r>
            <a:r>
              <a:rPr lang="ru-RU" sz="2400" dirty="0">
                <a:solidFill>
                  <a:schemeClr val="tx1"/>
                </a:solidFill>
                <a:latin typeface="Century Schoolbook" panose="02040604050505020304" pitchFamily="18" charset="0"/>
                <a:cs typeface="Calibri" panose="020F0502020204030204" pitchFamily="34" charset="0"/>
              </a:rPr>
              <a:t>Файзрахманов Ленар </a:t>
            </a:r>
            <a:r>
              <a:rPr lang="ru-RU" sz="2400" dirty="0" err="1">
                <a:solidFill>
                  <a:schemeClr val="tx1"/>
                </a:solidFill>
                <a:latin typeface="Century Schoolbook" panose="02040604050505020304" pitchFamily="18" charset="0"/>
                <a:cs typeface="Calibri" panose="020F0502020204030204" pitchFamily="34" charset="0"/>
              </a:rPr>
              <a:t>Фирдавесович</a:t>
            </a:r>
            <a:endParaRPr lang="ru-RU" sz="2400" dirty="0">
              <a:latin typeface="Century Schoolbook" panose="02040604050505020304" pitchFamily="18" charset="0"/>
              <a:cs typeface="Calibri" panose="020F0502020204030204" pitchFamily="34" charset="0"/>
            </a:endParaRPr>
          </a:p>
          <a:p>
            <a:pPr defTabSz="1344166">
              <a:spcBef>
                <a:spcPts val="1200"/>
              </a:spcBef>
              <a:tabLst>
                <a:tab pos="4724400" algn="l"/>
              </a:tabLst>
              <a:defRPr sz="2300"/>
            </a:pPr>
            <a:r>
              <a:rPr lang="ru-RU" sz="2400" b="1" dirty="0">
                <a:solidFill>
                  <a:schemeClr val="tx1"/>
                </a:solidFill>
                <a:latin typeface="Century Schoolbook" panose="02040604050505020304" pitchFamily="18" charset="0"/>
                <a:cs typeface="Calibri" panose="020F0502020204030204" pitchFamily="34" charset="0"/>
              </a:rPr>
              <a:t>Руководитель по дипломной работе</a:t>
            </a:r>
            <a:r>
              <a:rPr lang="ru-RU" sz="2400" dirty="0">
                <a:solidFill>
                  <a:schemeClr val="tx1"/>
                </a:solidFill>
                <a:latin typeface="Century Schoolbook" panose="02040604050505020304" pitchFamily="18" charset="0"/>
                <a:cs typeface="Calibri" panose="020F0502020204030204" pitchFamily="34" charset="0"/>
              </a:rPr>
              <a:t>: </a:t>
            </a:r>
            <a:r>
              <a:rPr lang="ru-RU" sz="2400" dirty="0" err="1">
                <a:solidFill>
                  <a:schemeClr val="tx1"/>
                </a:solidFill>
                <a:latin typeface="Century Schoolbook" panose="02040604050505020304" pitchFamily="18" charset="0"/>
                <a:cs typeface="Calibri" panose="020F0502020204030204" pitchFamily="34" charset="0"/>
              </a:rPr>
              <a:t>Деркунов</a:t>
            </a:r>
            <a:r>
              <a:rPr lang="ru-RU" sz="2400" dirty="0">
                <a:latin typeface="Century Schoolbook" panose="02040604050505020304" pitchFamily="18" charset="0"/>
              </a:rPr>
              <a:t> М.Ю.</a:t>
            </a:r>
            <a:endParaRPr lang="ru-RU" sz="2400" dirty="0">
              <a:solidFill>
                <a:schemeClr val="tx1"/>
              </a:solidFill>
              <a:latin typeface="Century Schoolbook" panose="02040604050505020304" pitchFamily="18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74183C-9A3E-626A-F3E9-F87C1B255621}"/>
              </a:ext>
            </a:extLst>
          </p:cNvPr>
          <p:cNvSpPr txBox="1"/>
          <p:nvPr/>
        </p:nvSpPr>
        <p:spPr>
          <a:xfrm>
            <a:off x="5436487" y="6256022"/>
            <a:ext cx="25776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Century Schoolbook" panose="02040604050505020304" pitchFamily="18" charset="0"/>
                <a:cs typeface="Calibri" panose="020F0502020204030204" pitchFamily="34" charset="0"/>
              </a:rPr>
              <a:t>Казань, 2026 г.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4DF875C-A1FA-3D4E-940C-DF49EFD8DD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1756" y="-200011"/>
            <a:ext cx="1511644" cy="1511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570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002060"/>
                </a:solidFill>
                <a:latin typeface="Century Schoolbook"/>
              </a:defRPr>
            </a:pPr>
            <a:r>
              <a:rPr dirty="0" err="1"/>
              <a:t>Актуальность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00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64498"/>
            <a:ext cx="10881360" cy="61863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>
              <a:lnSpc>
                <a:spcPct val="150000"/>
              </a:lnSpc>
              <a:defRPr sz="2400" b="0">
                <a:solidFill>
                  <a:srgbClr val="404040"/>
                </a:solidFill>
                <a:latin typeface="Century Schoolbook"/>
              </a:defRPr>
            </a:pPr>
            <a:endParaRPr lang="ru-RU" dirty="0"/>
          </a:p>
          <a:p>
            <a:pPr algn="just">
              <a:lnSpc>
                <a:spcPct val="150000"/>
              </a:lnSpc>
              <a:defRPr sz="2400" b="0">
                <a:solidFill>
                  <a:srgbClr val="404040"/>
                </a:solidFill>
                <a:latin typeface="Century Schoolbook"/>
              </a:defRPr>
            </a:pPr>
            <a:endParaRPr lang="ru-RU" dirty="0"/>
          </a:p>
          <a:p>
            <a:pPr algn="just"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/>
              <a:t>В </a:t>
            </a:r>
            <a:r>
              <a:rPr dirty="0" err="1"/>
              <a:t>условиях</a:t>
            </a:r>
            <a:r>
              <a:rPr dirty="0"/>
              <a:t> </a:t>
            </a:r>
            <a:r>
              <a:rPr dirty="0" err="1"/>
              <a:t>цифровой</a:t>
            </a:r>
            <a:r>
              <a:rPr dirty="0"/>
              <a:t> </a:t>
            </a:r>
            <a:r>
              <a:rPr dirty="0" err="1"/>
              <a:t>трансформации</a:t>
            </a:r>
            <a:r>
              <a:rPr dirty="0"/>
              <a:t> </a:t>
            </a:r>
            <a:r>
              <a:rPr dirty="0" err="1"/>
              <a:t>промышленности</a:t>
            </a:r>
            <a:r>
              <a:rPr dirty="0"/>
              <a:t>, </a:t>
            </a:r>
            <a:r>
              <a:rPr dirty="0" err="1"/>
              <a:t>инженеры</a:t>
            </a:r>
            <a:r>
              <a:rPr dirty="0"/>
              <a:t> и </a:t>
            </a:r>
            <a:r>
              <a:rPr dirty="0" err="1"/>
              <a:t>конструкторы</a:t>
            </a:r>
            <a:r>
              <a:rPr dirty="0"/>
              <a:t> </a:t>
            </a:r>
            <a:r>
              <a:rPr dirty="0" err="1"/>
              <a:t>ежедневно</a:t>
            </a:r>
            <a:r>
              <a:rPr dirty="0"/>
              <a:t> </a:t>
            </a:r>
            <a:r>
              <a:rPr dirty="0" err="1"/>
              <a:t>работают</a:t>
            </a:r>
            <a:r>
              <a:rPr dirty="0"/>
              <a:t> с </a:t>
            </a:r>
            <a:r>
              <a:rPr dirty="0" err="1"/>
              <a:t>сотнями</a:t>
            </a:r>
            <a:r>
              <a:rPr dirty="0"/>
              <a:t> </a:t>
            </a:r>
            <a:r>
              <a:rPr dirty="0" err="1"/>
              <a:t>нормативных</a:t>
            </a:r>
            <a:r>
              <a:rPr dirty="0"/>
              <a:t> </a:t>
            </a:r>
            <a:r>
              <a:rPr dirty="0" err="1"/>
              <a:t>документов</a:t>
            </a:r>
            <a:r>
              <a:rPr dirty="0"/>
              <a:t> (ГОСТ, ОСТ, ЕСКД).</a:t>
            </a:r>
          </a:p>
          <a:p>
            <a:pPr algn="just">
              <a:lnSpc>
                <a:spcPct val="150000"/>
              </a:lnSpc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/>
              <a:t>Проблемы</a:t>
            </a:r>
            <a:r>
              <a:rPr dirty="0"/>
              <a:t>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/>
              <a:t>Огромные</a:t>
            </a:r>
            <a:r>
              <a:rPr dirty="0"/>
              <a:t> </a:t>
            </a:r>
            <a:r>
              <a:rPr dirty="0" err="1"/>
              <a:t>объемы</a:t>
            </a:r>
            <a:r>
              <a:rPr dirty="0"/>
              <a:t> </a:t>
            </a:r>
            <a:r>
              <a:rPr dirty="0" err="1"/>
              <a:t>документации</a:t>
            </a:r>
            <a:r>
              <a:rPr dirty="0"/>
              <a:t> (</a:t>
            </a:r>
            <a:r>
              <a:rPr dirty="0" err="1"/>
              <a:t>тысячи</a:t>
            </a:r>
            <a:r>
              <a:rPr dirty="0"/>
              <a:t> </a:t>
            </a:r>
            <a:r>
              <a:rPr dirty="0" err="1"/>
              <a:t>страниц</a:t>
            </a:r>
            <a:r>
              <a:rPr dirty="0"/>
              <a:t>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/>
              <a:t>Долгий</a:t>
            </a:r>
            <a:r>
              <a:rPr dirty="0"/>
              <a:t> </a:t>
            </a: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нужной</a:t>
            </a:r>
            <a:r>
              <a:rPr dirty="0"/>
              <a:t> </a:t>
            </a:r>
            <a:r>
              <a:rPr dirty="0" err="1"/>
              <a:t>информации</a:t>
            </a:r>
            <a:endParaRPr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/>
              <a:t>Человеческий</a:t>
            </a:r>
            <a:r>
              <a:rPr dirty="0"/>
              <a:t> </a:t>
            </a:r>
            <a:r>
              <a:rPr dirty="0" err="1"/>
              <a:t>фактор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нормоконтроле</a:t>
            </a:r>
            <a:endParaRPr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/>
              <a:t>Требования</a:t>
            </a:r>
            <a:r>
              <a:rPr dirty="0"/>
              <a:t> к </a:t>
            </a:r>
            <a:r>
              <a:rPr dirty="0" err="1"/>
              <a:t>конфиденциальности</a:t>
            </a:r>
            <a:r>
              <a:rPr dirty="0"/>
              <a:t> </a:t>
            </a:r>
            <a:r>
              <a:rPr dirty="0" err="1"/>
              <a:t>данных</a:t>
            </a:r>
            <a:endParaRPr lang="ru-RU" dirty="0"/>
          </a:p>
          <a:p>
            <a:pPr algn="just">
              <a:defRPr sz="2400" b="0">
                <a:solidFill>
                  <a:srgbClr val="404040"/>
                </a:solidFill>
                <a:latin typeface="Century Schoolbook"/>
              </a:defRPr>
            </a:pPr>
            <a:endParaRPr dirty="0"/>
          </a:p>
          <a:p>
            <a:pPr algn="just"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lang="ru-RU" dirty="0"/>
              <a:t>Решение: Локальная RAG-система с семантическим поиском</a:t>
            </a:r>
          </a:p>
          <a:p>
            <a:pPr algn="l">
              <a:defRPr sz="2400" b="0">
                <a:solidFill>
                  <a:srgbClr val="404040"/>
                </a:solidFill>
                <a:latin typeface="Century Schoolbook"/>
              </a:defRPr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002060"/>
                </a:solidFill>
                <a:latin typeface="Century Schoolbook"/>
              </a:defRPr>
            </a:pPr>
            <a:r>
              <a:t>Цель и задачи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00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4548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b="1" dirty="0" err="1">
                <a:latin typeface="Century Schoolbook (Основной текст)"/>
              </a:rPr>
              <a:t>Цель</a:t>
            </a:r>
            <a:r>
              <a:rPr b="1" dirty="0">
                <a:latin typeface="Century Schoolbook (Основной текст)"/>
              </a:rPr>
              <a:t>:</a:t>
            </a:r>
            <a:r>
              <a:rPr lang="ru-RU" b="1"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Создание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корпоративного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ассистента</a:t>
            </a:r>
            <a:r>
              <a:rPr dirty="0">
                <a:latin typeface="Century Schoolbook (Основной текст)"/>
              </a:rPr>
              <a:t> с </a:t>
            </a:r>
            <a:r>
              <a:rPr dirty="0" err="1">
                <a:latin typeface="Century Schoolbook (Основной текст)"/>
              </a:rPr>
              <a:t>локальной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обработкой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естественного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языка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для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быстрого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поиска</a:t>
            </a:r>
            <a:r>
              <a:rPr dirty="0">
                <a:latin typeface="Century Schoolbook (Основной текст)"/>
              </a:rPr>
              <a:t> и </a:t>
            </a:r>
            <a:r>
              <a:rPr dirty="0" err="1">
                <a:latin typeface="Century Schoolbook (Основной текст)"/>
              </a:rPr>
              <a:t>анализа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нормативной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документации</a:t>
            </a:r>
            <a:endParaRPr dirty="0">
              <a:latin typeface="Century Schoolbook (Основной текст)"/>
            </a:endParaRPr>
          </a:p>
          <a:p>
            <a:pPr algn="l">
              <a:lnSpc>
                <a:spcPct val="150000"/>
              </a:lnSpc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b="1" dirty="0" err="1">
                <a:latin typeface="Century Schoolbook (Основной текст)"/>
              </a:rPr>
              <a:t>Задачи</a:t>
            </a:r>
            <a:r>
              <a:rPr b="1" dirty="0">
                <a:latin typeface="Century Schoolbook (Основной текст)"/>
              </a:rPr>
              <a:t>: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>
                <a:latin typeface="Century Schoolbook (Основной текст)"/>
              </a:rPr>
              <a:t>Реализовать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семантический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поиск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по</a:t>
            </a:r>
            <a:r>
              <a:rPr dirty="0">
                <a:latin typeface="Century Schoolbook (Основной текст)"/>
              </a:rPr>
              <a:t> ГОСТ (RAG)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>
                <a:latin typeface="Century Schoolbook (Основной текст)"/>
              </a:rPr>
              <a:t>Интегрировать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локальную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языковую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модель</a:t>
            </a:r>
            <a:r>
              <a:rPr dirty="0">
                <a:latin typeface="Century Schoolbook (Основной текст)"/>
              </a:rPr>
              <a:t> (</a:t>
            </a:r>
            <a:r>
              <a:rPr dirty="0" err="1">
                <a:latin typeface="Century Schoolbook (Основной текст)"/>
              </a:rPr>
              <a:t>Ollama</a:t>
            </a:r>
            <a:r>
              <a:rPr dirty="0">
                <a:latin typeface="Century Schoolbook (Основной текст)"/>
              </a:rPr>
              <a:t>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>
                <a:latin typeface="Century Schoolbook (Основной текст)"/>
              </a:rPr>
              <a:t>Обработать</a:t>
            </a:r>
            <a:r>
              <a:rPr dirty="0">
                <a:latin typeface="Century Schoolbook (Основной текст)"/>
              </a:rPr>
              <a:t> и </a:t>
            </a:r>
            <a:r>
              <a:rPr dirty="0" err="1">
                <a:latin typeface="Century Schoolbook (Основной текст)"/>
              </a:rPr>
              <a:t>векторизовать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нормативные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документы</a:t>
            </a:r>
            <a:endParaRPr dirty="0">
              <a:latin typeface="Century Schoolbook (Основной текст)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>
                <a:latin typeface="Century Schoolbook (Основной текст)"/>
              </a:rPr>
              <a:t>Создать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веб-интерфейс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для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взаимодействия</a:t>
            </a:r>
            <a:endParaRPr dirty="0">
              <a:latin typeface="Century Schoolbook (Основной текст)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>
                <a:latin typeface="Century Schoolbook (Основной текст)"/>
              </a:rPr>
              <a:t>Обеспечить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полную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локальную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работу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без</a:t>
            </a:r>
            <a:r>
              <a:rPr dirty="0">
                <a:latin typeface="Century Schoolbook (Основной текст)"/>
              </a:rPr>
              <a:t> </a:t>
            </a:r>
            <a:r>
              <a:rPr dirty="0" err="1">
                <a:latin typeface="Century Schoolbook (Основной текст)"/>
              </a:rPr>
              <a:t>интернета</a:t>
            </a:r>
            <a:endParaRPr dirty="0">
              <a:latin typeface="Century Schoolbook (Основной текст)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002060"/>
                </a:solidFill>
                <a:latin typeface="Century Schoolbook"/>
              </a:defRPr>
            </a:pPr>
            <a:r>
              <a:rPr dirty="0" err="1"/>
              <a:t>Инструменты</a:t>
            </a:r>
            <a:r>
              <a:rPr dirty="0"/>
              <a:t> и </a:t>
            </a:r>
            <a:r>
              <a:rPr dirty="0" err="1"/>
              <a:t>технологии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00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1C2580E7-1F92-6FC7-452F-4C4841ECC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792562"/>
              </p:ext>
            </p:extLst>
          </p:nvPr>
        </p:nvGraphicFramePr>
        <p:xfrm>
          <a:off x="457200" y="1294951"/>
          <a:ext cx="11274552" cy="4572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842297">
                  <a:extLst>
                    <a:ext uri="{9D8B030D-6E8A-4147-A177-3AD203B41FA5}">
                      <a16:colId xmlns:a16="http://schemas.microsoft.com/office/drawing/2014/main" val="968608319"/>
                    </a:ext>
                  </a:extLst>
                </a:gridCol>
                <a:gridCol w="7432255">
                  <a:extLst>
                    <a:ext uri="{9D8B030D-6E8A-4147-A177-3AD203B41FA5}">
                      <a16:colId xmlns:a16="http://schemas.microsoft.com/office/drawing/2014/main" val="2529153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Бэкенд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Python 3.1</a:t>
                      </a:r>
                      <a:r>
                        <a:rPr lang="ru-RU" sz="2400" b="0" dirty="0">
                          <a:solidFill>
                            <a:schemeClr val="tx1"/>
                          </a:solidFill>
                        </a:rPr>
                        <a:t>2+,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</a:rPr>
                        <a:t>FastAPI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605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RAG-</a:t>
                      </a:r>
                      <a:r>
                        <a:rPr lang="ru-RU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фреймворк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LangChain</a:t>
                      </a:r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ChromaDB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468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 err="1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Эмбеддинг</a:t>
                      </a:r>
                      <a:r>
                        <a:rPr lang="ru-RU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-модель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BAAI/bge-m3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509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LLM</a:t>
                      </a:r>
                      <a:endParaRPr lang="ru-RU" sz="24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Ollama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2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qwen2.5:7b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105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Фронтенд</a:t>
                      </a:r>
                      <a:endParaRPr lang="ru-RU" sz="24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React 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740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Язык фронтенда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JavaScript (ES6+), JSX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250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Библиотека </a:t>
                      </a:r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UI</a:t>
                      </a:r>
                      <a:endParaRPr lang="ru-RU" sz="2400" b="1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CSS Modules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228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HTTP-</a:t>
                      </a:r>
                      <a:r>
                        <a:rPr lang="ru-RU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клиент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err="1">
                          <a:solidFill>
                            <a:schemeClr val="tx1"/>
                          </a:solidFill>
                        </a:rPr>
                        <a:t>Axios</a:t>
                      </a:r>
                      <a:r>
                        <a:rPr lang="ru-RU" sz="2400" dirty="0">
                          <a:solidFill>
                            <a:schemeClr val="tx1"/>
                          </a:solidFill>
                        </a:rPr>
                        <a:t> (библиотека JS для выполнения HTTP-запросов)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260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Векторная БД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ChromaDB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 (persistent)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24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Обработка документов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PyMuPDF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en-US" sz="2400" dirty="0" err="1">
                          <a:solidFill>
                            <a:schemeClr val="tx1"/>
                          </a:solidFill>
                        </a:rPr>
                        <a:t>pdfminer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, python-docx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6130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002060"/>
                </a:solidFill>
                <a:latin typeface="Century Schoolbook"/>
              </a:defRPr>
            </a:pPr>
            <a:r>
              <a:t>Архитектура системы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00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8531352" cy="914400"/>
          </a:xfrm>
          <a:prstGeom prst="roundRect">
            <a:avLst/>
          </a:prstGeom>
          <a:solidFill>
            <a:srgbClr val="BDD7EE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02060"/>
                </a:solidFill>
                <a:latin typeface="Century Schoolbook"/>
              </a:defRPr>
            </a:pPr>
            <a:r>
              <a:rPr dirty="0"/>
              <a:t>ФРОНТЕНД (React)</a:t>
            </a:r>
          </a:p>
        </p:txBody>
      </p:sp>
      <p:sp>
        <p:nvSpPr>
          <p:cNvPr id="5" name="Down Arrow 4"/>
          <p:cNvSpPr/>
          <p:nvPr/>
        </p:nvSpPr>
        <p:spPr>
          <a:xfrm>
            <a:off x="5029200" y="2377440"/>
            <a:ext cx="2130552" cy="457200"/>
          </a:xfrm>
          <a:prstGeom prst="downArrow">
            <a:avLst/>
          </a:prstGeom>
          <a:solidFill>
            <a:srgbClr val="00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0" y="2834640"/>
            <a:ext cx="39593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C000"/>
                </a:solidFill>
                <a:latin typeface="Century Schoolbook"/>
              </a:defRPr>
            </a:pPr>
            <a:r>
              <a:rPr dirty="0"/>
              <a:t>REST API</a:t>
            </a:r>
          </a:p>
        </p:txBody>
      </p:sp>
      <p:sp>
        <p:nvSpPr>
          <p:cNvPr id="7" name="Down Arrow 6"/>
          <p:cNvSpPr/>
          <p:nvPr/>
        </p:nvSpPr>
        <p:spPr>
          <a:xfrm>
            <a:off x="5029200" y="3200400"/>
            <a:ext cx="2130552" cy="457200"/>
          </a:xfrm>
          <a:prstGeom prst="downArrow">
            <a:avLst/>
          </a:prstGeom>
          <a:solidFill>
            <a:srgbClr val="00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371600" y="3749039"/>
            <a:ext cx="9445752" cy="1795603"/>
          </a:xfrm>
          <a:prstGeom prst="roundRect">
            <a:avLst/>
          </a:prstGeom>
          <a:solidFill>
            <a:srgbClr val="F2F2F2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200">
                <a:solidFill>
                  <a:srgbClr val="404040"/>
                </a:solidFill>
                <a:latin typeface="Century Schoolbook"/>
              </a:defRPr>
            </a:pPr>
            <a:r>
              <a:rPr dirty="0"/>
              <a:t>БЭКЕНД (</a:t>
            </a:r>
            <a:r>
              <a:rPr dirty="0" err="1"/>
              <a:t>FastAPI</a:t>
            </a:r>
            <a:r>
              <a:rPr dirty="0"/>
              <a:t>)</a:t>
            </a:r>
            <a:endParaRPr lang="ru-RU" dirty="0"/>
          </a:p>
          <a:p>
            <a:pPr algn="ctr">
              <a:defRPr sz="2200">
                <a:solidFill>
                  <a:srgbClr val="404040"/>
                </a:solidFill>
                <a:latin typeface="Century Schoolbook"/>
              </a:defRPr>
            </a:pPr>
            <a:endParaRPr lang="ru-RU" dirty="0"/>
          </a:p>
          <a:p>
            <a:pPr algn="ctr">
              <a:defRPr sz="2200">
                <a:solidFill>
                  <a:srgbClr val="404040"/>
                </a:solidFill>
                <a:latin typeface="Century Schoolbook"/>
              </a:defRPr>
            </a:pPr>
            <a:r>
              <a:rPr dirty="0"/>
              <a:t>RAG Chain: Embedding → </a:t>
            </a:r>
            <a:r>
              <a:rPr dirty="0" err="1"/>
              <a:t>ChromaDB</a:t>
            </a:r>
            <a:r>
              <a:rPr dirty="0"/>
              <a:t> → LLM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002060"/>
                </a:solidFill>
                <a:latin typeface="Century Schoolbook"/>
              </a:defRPr>
            </a:pPr>
            <a:r>
              <a:rPr dirty="0"/>
              <a:t>RAG </a:t>
            </a:r>
            <a:r>
              <a:rPr dirty="0" err="1"/>
              <a:t>архитектура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00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10881360" cy="20515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404040"/>
                </a:solidFill>
                <a:latin typeface="Century Schoolbook"/>
              </a:defRPr>
            </a:pPr>
            <a:r>
              <a:rPr sz="2400" b="1" dirty="0" err="1"/>
              <a:t>Преимущества</a:t>
            </a:r>
            <a:r>
              <a:rPr sz="2400" b="1" dirty="0"/>
              <a:t>:</a:t>
            </a:r>
            <a:endParaRPr sz="24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200" b="0">
                <a:solidFill>
                  <a:srgbClr val="404040"/>
                </a:solidFill>
                <a:latin typeface="Century Schoolbook"/>
              </a:defRPr>
            </a:pPr>
            <a:r>
              <a:rPr sz="2400" dirty="0" err="1"/>
              <a:t>Актуальная</a:t>
            </a:r>
            <a:r>
              <a:rPr sz="2400" dirty="0"/>
              <a:t> </a:t>
            </a:r>
            <a:r>
              <a:rPr sz="2400" dirty="0" err="1"/>
              <a:t>информация</a:t>
            </a:r>
            <a:r>
              <a:rPr sz="2400" dirty="0"/>
              <a:t> </a:t>
            </a:r>
            <a:r>
              <a:rPr sz="2400" dirty="0" err="1"/>
              <a:t>из</a:t>
            </a:r>
            <a:r>
              <a:rPr sz="2400" dirty="0"/>
              <a:t> </a:t>
            </a:r>
            <a:r>
              <a:rPr sz="2400" dirty="0" err="1"/>
              <a:t>документов</a:t>
            </a:r>
            <a:endParaRPr sz="24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200" b="0">
                <a:solidFill>
                  <a:srgbClr val="404040"/>
                </a:solidFill>
                <a:latin typeface="Century Schoolbook"/>
              </a:defRPr>
            </a:pPr>
            <a:r>
              <a:rPr sz="2400" dirty="0" err="1"/>
              <a:t>Отсутствие</a:t>
            </a:r>
            <a:r>
              <a:rPr sz="2400" dirty="0"/>
              <a:t> </a:t>
            </a:r>
            <a:r>
              <a:rPr sz="2400" dirty="0" err="1"/>
              <a:t>галлюцинаций</a:t>
            </a:r>
            <a:r>
              <a:rPr sz="2400" dirty="0"/>
              <a:t> (</a:t>
            </a:r>
            <a:r>
              <a:rPr sz="2400" dirty="0" err="1"/>
              <a:t>ответ</a:t>
            </a:r>
            <a:r>
              <a:rPr sz="2400" dirty="0"/>
              <a:t> </a:t>
            </a:r>
            <a:r>
              <a:rPr sz="2400" dirty="0" err="1"/>
              <a:t>только</a:t>
            </a:r>
            <a:r>
              <a:rPr sz="2400" dirty="0"/>
              <a:t> </a:t>
            </a:r>
            <a:r>
              <a:rPr sz="2400" dirty="0" err="1"/>
              <a:t>по</a:t>
            </a:r>
            <a:r>
              <a:rPr sz="2400" dirty="0"/>
              <a:t> </a:t>
            </a:r>
            <a:r>
              <a:rPr sz="2400" dirty="0" err="1"/>
              <a:t>контексту</a:t>
            </a:r>
            <a:r>
              <a:rPr sz="2400" dirty="0"/>
              <a:t>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200" b="0">
                <a:solidFill>
                  <a:srgbClr val="404040"/>
                </a:solidFill>
                <a:latin typeface="Century Schoolbook"/>
              </a:defRPr>
            </a:pPr>
            <a:r>
              <a:rPr sz="2400" dirty="0" err="1"/>
              <a:t>Полная</a:t>
            </a:r>
            <a:r>
              <a:rPr sz="2400" dirty="0"/>
              <a:t> </a:t>
            </a:r>
            <a:r>
              <a:rPr sz="2400" dirty="0" err="1"/>
              <a:t>локальная</a:t>
            </a:r>
            <a:r>
              <a:rPr sz="2400" dirty="0"/>
              <a:t> </a:t>
            </a:r>
            <a:r>
              <a:rPr sz="2400" dirty="0" err="1"/>
              <a:t>работа</a:t>
            </a:r>
            <a:r>
              <a:rPr sz="2400" dirty="0"/>
              <a:t> (</a:t>
            </a:r>
            <a:r>
              <a:rPr sz="2400" dirty="0" err="1"/>
              <a:t>конфиденциальность</a:t>
            </a:r>
            <a:r>
              <a:rPr sz="2400" dirty="0"/>
              <a:t>)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ED50C26-ADC6-C338-3DBA-6D8FF90F2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10" y="1273043"/>
            <a:ext cx="10325149" cy="25674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002060"/>
                </a:solidFill>
                <a:latin typeface="Century Schoolbook"/>
              </a:defRPr>
            </a:pPr>
            <a:r>
              <a:rPr dirty="0" err="1"/>
              <a:t>Практическая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: </a:t>
            </a:r>
            <a:r>
              <a:rPr lang="ru-RU" dirty="0"/>
              <a:t>темный синий и</a:t>
            </a:r>
            <a:r>
              <a:rPr dirty="0" err="1"/>
              <a:t>нтерфейс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00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8F0CA67-37B9-779E-B36D-E9C0E44A7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24712"/>
            <a:ext cx="11274552" cy="52363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AD5BD-F1F3-DDCD-3A04-F1C08E10D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33D357-1FA6-2015-8656-CA4AFD27BF18}"/>
              </a:ext>
            </a:extLst>
          </p:cNvPr>
          <p:cNvSpPr txBox="1"/>
          <p:nvPr/>
        </p:nvSpPr>
        <p:spPr>
          <a:xfrm>
            <a:off x="457200" y="274320"/>
            <a:ext cx="1127455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002060"/>
                </a:solidFill>
                <a:latin typeface="Century Schoolbook"/>
              </a:defRPr>
            </a:pPr>
            <a:r>
              <a:rPr dirty="0" err="1"/>
              <a:t>Практическая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: </a:t>
            </a:r>
            <a:r>
              <a:rPr lang="ru-RU" dirty="0"/>
              <a:t>светлый и</a:t>
            </a:r>
            <a:r>
              <a:rPr dirty="0" err="1"/>
              <a:t>нтерфейс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4D35C2-0C54-8C0B-C6CF-FF7783F95696}"/>
              </a:ext>
            </a:extLst>
          </p:cNvPr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00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EF857A9-D84D-FE22-7F97-DCB03F87E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24712"/>
            <a:ext cx="11274552" cy="540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855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2D63A-82AD-7F11-2978-29B6D7479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065B65-7FBA-F417-974E-C7E3950412D4}"/>
              </a:ext>
            </a:extLst>
          </p:cNvPr>
          <p:cNvSpPr txBox="1"/>
          <p:nvPr/>
        </p:nvSpPr>
        <p:spPr>
          <a:xfrm>
            <a:off x="200025" y="274320"/>
            <a:ext cx="11858625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002060"/>
                </a:solidFill>
                <a:latin typeface="Century Schoolbook"/>
              </a:defRPr>
            </a:pPr>
            <a:r>
              <a:rPr dirty="0" err="1"/>
              <a:t>Практическая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: </a:t>
            </a:r>
            <a:r>
              <a:rPr lang="ru-RU" sz="3200" b="1" dirty="0"/>
              <a:t>демонстрация работы чатбота</a:t>
            </a:r>
            <a:endParaRPr lang="ru-RU" sz="2400" b="1" dirty="0"/>
          </a:p>
          <a:p>
            <a:pPr algn="ctr">
              <a:defRPr sz="3200" b="1">
                <a:solidFill>
                  <a:srgbClr val="002060"/>
                </a:solidFill>
                <a:latin typeface="Century Schoolbook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B5C538-3718-A174-2091-54AC0D5F8DFF}"/>
              </a:ext>
            </a:extLst>
          </p:cNvPr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00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3D984FF-C56A-6D63-BB3C-563DCF259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79"/>
            <a:ext cx="11274552" cy="548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352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AFF2F-E829-CCB8-8F6A-270E3CFAD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88E8ED-9C39-3B1A-E039-A98B19347EB9}"/>
              </a:ext>
            </a:extLst>
          </p:cNvPr>
          <p:cNvSpPr txBox="1"/>
          <p:nvPr/>
        </p:nvSpPr>
        <p:spPr>
          <a:xfrm>
            <a:off x="0" y="274320"/>
            <a:ext cx="1219200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002060"/>
                </a:solidFill>
                <a:latin typeface="Century Schoolbook"/>
              </a:defRPr>
            </a:pPr>
            <a:r>
              <a:rPr sz="3200" spc="-160" dirty="0" err="1"/>
              <a:t>Практическая</a:t>
            </a:r>
            <a:r>
              <a:rPr sz="3200" spc="-160" dirty="0"/>
              <a:t> </a:t>
            </a:r>
            <a:r>
              <a:rPr sz="3200" spc="-160" dirty="0" err="1"/>
              <a:t>часть</a:t>
            </a:r>
            <a:r>
              <a:rPr sz="3200" spc="-160" dirty="0"/>
              <a:t>: </a:t>
            </a:r>
            <a:r>
              <a:rPr lang="ru-RU" sz="3200" spc="-160" dirty="0"/>
              <a:t>видео</a:t>
            </a:r>
            <a:r>
              <a:rPr lang="ru-RU" sz="3200" b="1" spc="-160" dirty="0"/>
              <a:t>демонстрация работы чатбота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C9EAEC-EB21-21A9-92E1-6815EB71DAA3}"/>
              </a:ext>
            </a:extLst>
          </p:cNvPr>
          <p:cNvSpPr/>
          <p:nvPr/>
        </p:nvSpPr>
        <p:spPr>
          <a:xfrm>
            <a:off x="457200" y="842929"/>
            <a:ext cx="11274552" cy="27432"/>
          </a:xfrm>
          <a:prstGeom prst="rect">
            <a:avLst/>
          </a:prstGeom>
          <a:solidFill>
            <a:srgbClr val="00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606590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002060"/>
                </a:solidFill>
                <a:latin typeface="Century Schoolbook"/>
              </a:defRPr>
            </a:pPr>
            <a:r>
              <a:t>Кэширование ответов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00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45243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/>
              <a:t>Реализовано</a:t>
            </a:r>
            <a:r>
              <a:rPr dirty="0"/>
              <a:t> </a:t>
            </a:r>
            <a:r>
              <a:rPr dirty="0" err="1"/>
              <a:t>двухуровневое</a:t>
            </a:r>
            <a:r>
              <a:rPr dirty="0"/>
              <a:t> </a:t>
            </a:r>
            <a:r>
              <a:rPr dirty="0" err="1"/>
              <a:t>кэширование</a:t>
            </a:r>
            <a:r>
              <a:rPr dirty="0"/>
              <a:t>:</a:t>
            </a:r>
          </a:p>
          <a:p>
            <a:pPr algn="l">
              <a:defRPr sz="2400" b="0">
                <a:solidFill>
                  <a:srgbClr val="404040"/>
                </a:solidFill>
                <a:latin typeface="Century Schoolbook"/>
              </a:defRPr>
            </a:pPr>
            <a:endParaRPr dirty="0"/>
          </a:p>
          <a:p>
            <a:pPr algn="l"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/>
              <a:t>Бэкенд</a:t>
            </a:r>
            <a:r>
              <a:rPr dirty="0"/>
              <a:t> (persistent JSON)</a:t>
            </a:r>
          </a:p>
          <a:p>
            <a:pPr algn="l"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/>
              <a:t>   • Сохраняется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перезапусками</a:t>
            </a:r>
            <a:r>
              <a:rPr dirty="0"/>
              <a:t> </a:t>
            </a:r>
            <a:r>
              <a:rPr dirty="0" err="1"/>
              <a:t>сервера</a:t>
            </a:r>
            <a:endParaRPr dirty="0"/>
          </a:p>
          <a:p>
            <a:pPr algn="l"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/>
              <a:t>   • </a:t>
            </a:r>
            <a:r>
              <a:rPr dirty="0" err="1"/>
              <a:t>Автоматическое</a:t>
            </a:r>
            <a:r>
              <a:rPr dirty="0"/>
              <a:t> </a:t>
            </a:r>
            <a:r>
              <a:rPr dirty="0" err="1"/>
              <a:t>восстановление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повреждении</a:t>
            </a:r>
            <a:endParaRPr dirty="0"/>
          </a:p>
          <a:p>
            <a:pPr algn="l">
              <a:defRPr sz="2400" b="0">
                <a:solidFill>
                  <a:srgbClr val="404040"/>
                </a:solidFill>
                <a:latin typeface="Century Schoolbook"/>
              </a:defRPr>
            </a:pPr>
            <a:endParaRPr dirty="0"/>
          </a:p>
          <a:p>
            <a:pPr algn="l"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/>
              <a:t>Фронтенд</a:t>
            </a:r>
            <a:r>
              <a:rPr dirty="0"/>
              <a:t> (memory cache)</a:t>
            </a:r>
          </a:p>
          <a:p>
            <a:pPr indent="266700" algn="l"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/>
              <a:t>• </a:t>
            </a:r>
            <a:r>
              <a:rPr dirty="0" err="1"/>
              <a:t>Мгновенный</a:t>
            </a:r>
            <a:r>
              <a:rPr dirty="0"/>
              <a:t> </a:t>
            </a:r>
            <a:r>
              <a:rPr dirty="0" err="1"/>
              <a:t>ответ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повторные</a:t>
            </a:r>
            <a:r>
              <a:rPr dirty="0"/>
              <a:t> </a:t>
            </a:r>
            <a:r>
              <a:rPr dirty="0" err="1"/>
              <a:t>запросы</a:t>
            </a:r>
            <a:endParaRPr dirty="0"/>
          </a:p>
          <a:p>
            <a:pPr algn="l">
              <a:defRPr sz="2400" b="0">
                <a:solidFill>
                  <a:srgbClr val="404040"/>
                </a:solidFill>
                <a:latin typeface="Century Schoolbook"/>
              </a:defRPr>
            </a:pPr>
            <a:endParaRPr dirty="0"/>
          </a:p>
          <a:p>
            <a:pPr algn="l"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/>
              <a:t>Результат</a:t>
            </a:r>
            <a:r>
              <a:rPr dirty="0"/>
              <a:t>:</a:t>
            </a:r>
          </a:p>
          <a:p>
            <a:pPr algn="l"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/>
              <a:t>   • </a:t>
            </a:r>
            <a:r>
              <a:rPr dirty="0" err="1"/>
              <a:t>Повторные</a:t>
            </a:r>
            <a:r>
              <a:rPr dirty="0"/>
              <a:t> </a:t>
            </a:r>
            <a:r>
              <a:rPr dirty="0" err="1"/>
              <a:t>запросы</a:t>
            </a:r>
            <a:r>
              <a:rPr dirty="0"/>
              <a:t> — </a:t>
            </a:r>
            <a:r>
              <a:rPr dirty="0" err="1"/>
              <a:t>менее</a:t>
            </a:r>
            <a:r>
              <a:rPr dirty="0"/>
              <a:t> 10 </a:t>
            </a:r>
            <a:r>
              <a:rPr dirty="0" err="1"/>
              <a:t>мс</a:t>
            </a:r>
            <a:endParaRPr dirty="0"/>
          </a:p>
          <a:p>
            <a:pPr algn="l"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/>
              <a:t>   • </a:t>
            </a:r>
            <a:r>
              <a:rPr dirty="0" err="1"/>
              <a:t>Снижение</a:t>
            </a:r>
            <a:r>
              <a:rPr dirty="0"/>
              <a:t> </a:t>
            </a:r>
            <a:r>
              <a:rPr dirty="0" err="1"/>
              <a:t>нагрузки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LLM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002060"/>
                </a:solidFill>
                <a:latin typeface="Century Schoolbook"/>
              </a:defRPr>
            </a:pPr>
            <a:r>
              <a:t>Планы на улучшение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00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341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/>
              <a:t>Авторизация</a:t>
            </a:r>
            <a:r>
              <a:rPr dirty="0"/>
              <a:t> и </a:t>
            </a:r>
            <a:r>
              <a:rPr dirty="0" err="1"/>
              <a:t>роли</a:t>
            </a:r>
            <a:r>
              <a:rPr dirty="0"/>
              <a:t> (JWT)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endParaRPr dirty="0"/>
          </a:p>
          <a:p>
            <a:pPr marL="342900" indent="-342900" algn="l"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/>
              <a:t>Мобильная</a:t>
            </a:r>
            <a:r>
              <a:rPr dirty="0"/>
              <a:t> </a:t>
            </a:r>
            <a:r>
              <a:rPr dirty="0" err="1"/>
              <a:t>версия</a:t>
            </a:r>
            <a:r>
              <a:rPr dirty="0"/>
              <a:t> (PWA)</a:t>
            </a:r>
          </a:p>
          <a:p>
            <a:pPr marL="342900" indent="-342900" algn="l"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endParaRPr dirty="0"/>
          </a:p>
          <a:p>
            <a:pPr marL="342900" indent="-342900" algn="l"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/>
              <a:t>Уведомления</a:t>
            </a:r>
            <a:r>
              <a:rPr dirty="0"/>
              <a:t> </a:t>
            </a:r>
            <a:r>
              <a:rPr dirty="0" err="1"/>
              <a:t>об</a:t>
            </a:r>
            <a:r>
              <a:rPr dirty="0"/>
              <a:t> </a:t>
            </a:r>
            <a:r>
              <a:rPr dirty="0" err="1"/>
              <a:t>обновлении</a:t>
            </a:r>
            <a:r>
              <a:rPr dirty="0"/>
              <a:t> </a:t>
            </a:r>
            <a:r>
              <a:rPr dirty="0" err="1"/>
              <a:t>документов</a:t>
            </a:r>
            <a:endParaRPr dirty="0"/>
          </a:p>
          <a:p>
            <a:pPr marL="342900" indent="-342900" algn="l"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endParaRPr dirty="0"/>
          </a:p>
          <a:p>
            <a:pPr marL="342900" indent="-342900" algn="l"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/>
              <a:t>Расширенная</a:t>
            </a:r>
            <a:r>
              <a:rPr dirty="0"/>
              <a:t> </a:t>
            </a:r>
            <a:r>
              <a:rPr dirty="0" err="1"/>
              <a:t>аналитика</a:t>
            </a:r>
            <a:r>
              <a:rPr dirty="0"/>
              <a:t> </a:t>
            </a:r>
            <a:r>
              <a:rPr dirty="0" err="1"/>
              <a:t>запросов</a:t>
            </a:r>
            <a:endParaRPr lang="ru-RU" dirty="0"/>
          </a:p>
          <a:p>
            <a:pPr algn="l">
              <a:defRPr sz="2400" b="0">
                <a:solidFill>
                  <a:srgbClr val="404040"/>
                </a:solidFill>
                <a:latin typeface="Century Schoolbook"/>
              </a:defRPr>
            </a:pPr>
            <a:endParaRPr dirty="0"/>
          </a:p>
          <a:p>
            <a:pPr algn="l">
              <a:defRPr sz="2400" b="0">
                <a:solidFill>
                  <a:srgbClr val="404040"/>
                </a:solidFill>
                <a:latin typeface="Century Schoolbook"/>
              </a:defRPr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6D16D-A070-85DE-58AC-FBD4912C1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953888-247B-E3ED-F37A-060571A69D28}"/>
              </a:ext>
            </a:extLst>
          </p:cNvPr>
          <p:cNvSpPr txBox="1"/>
          <p:nvPr/>
        </p:nvSpPr>
        <p:spPr>
          <a:xfrm>
            <a:off x="457200" y="274320"/>
            <a:ext cx="1127455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002060"/>
                </a:solidFill>
                <a:latin typeface="Century Schoolbook"/>
              </a:defRPr>
            </a:pPr>
            <a:r>
              <a:rPr lang="ru-RU" dirty="0"/>
              <a:t>Результаты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236579-3834-D759-E292-F34DE1463688}"/>
              </a:ext>
            </a:extLst>
          </p:cNvPr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00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8F64BB-F52B-A478-8588-63A864DBB6E5}"/>
              </a:ext>
            </a:extLst>
          </p:cNvPr>
          <p:cNvSpPr txBox="1"/>
          <p:nvPr/>
        </p:nvSpPr>
        <p:spPr>
          <a:xfrm>
            <a:off x="457200" y="1280160"/>
            <a:ext cx="11319971" cy="341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04040"/>
                </a:solidFill>
                <a:latin typeface="Century Schoolbook"/>
              </a:defRPr>
            </a:pPr>
            <a:endParaRPr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sz="2800" dirty="0" err="1"/>
              <a:t>Точность</a:t>
            </a:r>
            <a:r>
              <a:rPr sz="2800" dirty="0"/>
              <a:t> </a:t>
            </a:r>
            <a:r>
              <a:rPr sz="2800" dirty="0" err="1"/>
              <a:t>ответов</a:t>
            </a:r>
            <a:r>
              <a:rPr sz="2800" dirty="0"/>
              <a:t>: ~</a:t>
            </a:r>
            <a:r>
              <a:rPr lang="en-US" sz="2800" dirty="0"/>
              <a:t>91</a:t>
            </a:r>
            <a:r>
              <a:rPr sz="2800" dirty="0"/>
              <a:t>% </a:t>
            </a:r>
            <a:r>
              <a:rPr sz="2800" dirty="0" err="1"/>
              <a:t>по</a:t>
            </a:r>
            <a:r>
              <a:rPr sz="2800" dirty="0"/>
              <a:t> </a:t>
            </a:r>
            <a:r>
              <a:rPr sz="2800" dirty="0" err="1"/>
              <a:t>нормативным</a:t>
            </a:r>
            <a:r>
              <a:rPr sz="2800" dirty="0"/>
              <a:t> </a:t>
            </a:r>
            <a:r>
              <a:rPr sz="2800" dirty="0" err="1"/>
              <a:t>документам</a:t>
            </a:r>
            <a:endParaRPr sz="2800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sz="2800" dirty="0" err="1"/>
              <a:t>Скорость</a:t>
            </a:r>
            <a:r>
              <a:rPr sz="2800" dirty="0"/>
              <a:t> </a:t>
            </a:r>
            <a:r>
              <a:rPr sz="2800" dirty="0" err="1"/>
              <a:t>ответа</a:t>
            </a:r>
            <a:r>
              <a:rPr sz="2800" dirty="0"/>
              <a:t>: </a:t>
            </a:r>
            <a:r>
              <a:rPr lang="ru-RU" sz="2800" dirty="0"/>
              <a:t>10</a:t>
            </a:r>
            <a:r>
              <a:rPr sz="2800" dirty="0"/>
              <a:t>-</a:t>
            </a:r>
            <a:r>
              <a:rPr lang="ru-RU" sz="2800" dirty="0"/>
              <a:t>30</a:t>
            </a:r>
            <a:r>
              <a:rPr sz="2800" dirty="0"/>
              <a:t> </a:t>
            </a:r>
            <a:r>
              <a:rPr sz="2800" dirty="0" err="1"/>
              <a:t>сек</a:t>
            </a:r>
            <a:r>
              <a:rPr sz="2800" dirty="0"/>
              <a:t> (с </a:t>
            </a:r>
            <a:r>
              <a:rPr sz="2800" dirty="0" err="1"/>
              <a:t>кэшем</a:t>
            </a:r>
            <a:r>
              <a:rPr sz="2800" dirty="0"/>
              <a:t> — </a:t>
            </a:r>
            <a:r>
              <a:rPr sz="2800" dirty="0" err="1"/>
              <a:t>мгновенно</a:t>
            </a:r>
            <a:r>
              <a:rPr sz="2800" dirty="0"/>
              <a:t>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sz="2800" dirty="0"/>
              <a:t>Обработано: </a:t>
            </a:r>
            <a:r>
              <a:rPr lang="ru-RU" sz="2800" dirty="0"/>
              <a:t>500</a:t>
            </a:r>
            <a:r>
              <a:rPr sz="2800" dirty="0"/>
              <a:t>+ </a:t>
            </a:r>
            <a:r>
              <a:rPr lang="ru-RU" sz="2800" dirty="0" err="1"/>
              <a:t>чанков</a:t>
            </a:r>
            <a:r>
              <a:rPr lang="ru-RU" sz="2800" dirty="0"/>
              <a:t> (фрагментов) </a:t>
            </a:r>
            <a:r>
              <a:rPr sz="2800" dirty="0" err="1"/>
              <a:t>нормативной</a:t>
            </a:r>
            <a:r>
              <a:rPr sz="2800" dirty="0"/>
              <a:t> </a:t>
            </a:r>
            <a:r>
              <a:rPr sz="2800" dirty="0" err="1"/>
              <a:t>документации</a:t>
            </a:r>
            <a:endParaRPr sz="2800" dirty="0"/>
          </a:p>
          <a:p>
            <a:pPr algn="l">
              <a:defRPr sz="2400" b="0">
                <a:solidFill>
                  <a:srgbClr val="404040"/>
                </a:solidFill>
                <a:latin typeface="Century Schoolbook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3842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200" b="1">
                <a:solidFill>
                  <a:srgbClr val="002060"/>
                </a:solidFill>
                <a:latin typeface="Century Schoolbook"/>
              </a:defRPr>
            </a:pPr>
            <a:r>
              <a:t>Заключение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74552" cy="27432"/>
          </a:xfrm>
          <a:prstGeom prst="rect">
            <a:avLst/>
          </a:prstGeom>
          <a:solidFill>
            <a:srgbClr val="005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39703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/>
              <a:t>Выполнен</a:t>
            </a:r>
            <a:r>
              <a:rPr dirty="0"/>
              <a:t> </a:t>
            </a:r>
            <a:r>
              <a:rPr dirty="0" err="1"/>
              <a:t>полный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разработки</a:t>
            </a:r>
            <a:r>
              <a:rPr dirty="0"/>
              <a:t>: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/>
              <a:t>Спроектирована</a:t>
            </a:r>
            <a:r>
              <a:rPr dirty="0"/>
              <a:t> </a:t>
            </a:r>
            <a:r>
              <a:rPr dirty="0" err="1"/>
              <a:t>архитектура</a:t>
            </a:r>
            <a:r>
              <a:rPr dirty="0"/>
              <a:t> RAG-</a:t>
            </a:r>
            <a:r>
              <a:rPr dirty="0" err="1"/>
              <a:t>системы</a:t>
            </a:r>
            <a:endParaRPr lang="ru-RU"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/>
              <a:t>Реализован</a:t>
            </a:r>
            <a:r>
              <a:rPr dirty="0"/>
              <a:t> </a:t>
            </a:r>
            <a:r>
              <a:rPr dirty="0" err="1"/>
              <a:t>семантический</a:t>
            </a:r>
            <a:r>
              <a:rPr dirty="0"/>
              <a:t> </a:t>
            </a: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нормативной</a:t>
            </a:r>
            <a:r>
              <a:rPr dirty="0"/>
              <a:t> </a:t>
            </a:r>
            <a:r>
              <a:rPr dirty="0" err="1"/>
              <a:t>документации</a:t>
            </a:r>
            <a:endParaRPr dirty="0"/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/>
              <a:t>Интегрирована</a:t>
            </a:r>
            <a:r>
              <a:rPr dirty="0"/>
              <a:t> </a:t>
            </a:r>
            <a:r>
              <a:rPr dirty="0" err="1"/>
              <a:t>локальная</a:t>
            </a:r>
            <a:r>
              <a:rPr dirty="0"/>
              <a:t> </a:t>
            </a:r>
            <a:r>
              <a:rPr dirty="0" err="1"/>
              <a:t>языковая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(</a:t>
            </a:r>
            <a:r>
              <a:rPr dirty="0" err="1"/>
              <a:t>Ollama</a:t>
            </a:r>
            <a:r>
              <a:rPr dirty="0"/>
              <a:t>)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/>
              <a:t>Создан</a:t>
            </a:r>
            <a:r>
              <a:rPr dirty="0"/>
              <a:t> </a:t>
            </a:r>
            <a:r>
              <a:rPr dirty="0" err="1"/>
              <a:t>современный</a:t>
            </a:r>
            <a:r>
              <a:rPr dirty="0"/>
              <a:t> </a:t>
            </a:r>
            <a:r>
              <a:rPr dirty="0" err="1"/>
              <a:t>веб-интерфейс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React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 sz="2400" b="0">
                <a:solidFill>
                  <a:srgbClr val="404040"/>
                </a:solidFill>
                <a:latin typeface="Century Schoolbook"/>
              </a:defRPr>
            </a:pPr>
            <a:r>
              <a:rPr dirty="0" err="1"/>
              <a:t>Внедрено</a:t>
            </a:r>
            <a:r>
              <a:rPr dirty="0"/>
              <a:t> </a:t>
            </a:r>
            <a:r>
              <a:rPr dirty="0" err="1"/>
              <a:t>двухуровневое</a:t>
            </a:r>
            <a:r>
              <a:rPr dirty="0"/>
              <a:t> </a:t>
            </a:r>
            <a:r>
              <a:rPr dirty="0" err="1"/>
              <a:t>кэширование</a:t>
            </a:r>
            <a:r>
              <a:rPr dirty="0"/>
              <a:t> </a:t>
            </a:r>
            <a:r>
              <a:rPr dirty="0" err="1"/>
              <a:t>ответов</a:t>
            </a:r>
            <a:endParaRPr dirty="0"/>
          </a:p>
          <a:p>
            <a:pPr algn="l">
              <a:defRPr sz="2400" b="0">
                <a:solidFill>
                  <a:srgbClr val="404040"/>
                </a:solidFill>
                <a:latin typeface="Century Schoolbook"/>
              </a:defRPr>
            </a:pPr>
            <a:endParaRPr dirty="0"/>
          </a:p>
          <a:p>
            <a:pPr algn="l">
              <a:defRPr sz="2400" b="0">
                <a:solidFill>
                  <a:srgbClr val="404040"/>
                </a:solidFill>
                <a:latin typeface="Century Schoolbook"/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</TotalTime>
  <Words>401</Words>
  <Application>Microsoft Office PowerPoint</Application>
  <PresentationFormat>Широкоэкранный</PresentationFormat>
  <Paragraphs>95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Century Schoolbook</vt:lpstr>
      <vt:lpstr>Century Schoolbook (Основной текст)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alfa alfa</cp:lastModifiedBy>
  <cp:revision>66</cp:revision>
  <dcterms:created xsi:type="dcterms:W3CDTF">2013-01-27T09:14:16Z</dcterms:created>
  <dcterms:modified xsi:type="dcterms:W3CDTF">2026-04-24T16:46:16Z</dcterms:modified>
  <cp:category/>
</cp:coreProperties>
</file>